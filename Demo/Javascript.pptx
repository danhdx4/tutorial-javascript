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257" r:id="rId6"/>
    <p:sldId id="288" r:id="rId7"/>
    <p:sldId id="260" r:id="rId8"/>
    <p:sldId id="286" r:id="rId9"/>
    <p:sldId id="287" r:id="rId10"/>
    <p:sldId id="258" r:id="rId11"/>
    <p:sldId id="289" r:id="rId12"/>
    <p:sldId id="261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0" r:id="rId34"/>
    <p:sldId id="311" r:id="rId35"/>
    <p:sldId id="312" r:id="rId36"/>
    <p:sldId id="314" r:id="rId37"/>
    <p:sldId id="315" r:id="rId38"/>
    <p:sldId id="316" r:id="rId39"/>
    <p:sldId id="317" r:id="rId40"/>
    <p:sldId id="313" r:id="rId41"/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26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15" y="1131711"/>
            <a:ext cx="9103006" cy="8590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1: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JavaScript, VS Code, SourceTree, GitHub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EDBE80-46BB-A3E1-B29A-782702F27499}"/>
              </a:ext>
            </a:extLst>
          </p:cNvPr>
          <p:cNvSpPr txBox="1">
            <a:spLocks/>
          </p:cNvSpPr>
          <p:nvPr/>
        </p:nvSpPr>
        <p:spPr>
          <a:xfrm>
            <a:off x="769761" y="2333413"/>
            <a:ext cx="7840085" cy="3948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dirty="0"/>
              <a:t>Mục tiêu: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Hiểu JavaScript là gì và vai trò của nó trong lập trình web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Làm quen với VS Code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Hiểu cơ bản về Git và các upload code</a:t>
            </a:r>
          </a:p>
          <a:p>
            <a:pPr marL="342900" indent="-342900">
              <a:buFont typeface="+mj-lt"/>
              <a:buAutoNum type="arabicPeriod"/>
            </a:pPr>
            <a:r>
              <a:rPr lang="vi-VN" dirty="0"/>
              <a:t>Sử dụng SourceTree để quản lý mã nguồn trực quan</a:t>
            </a:r>
          </a:p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C532A-00B9-67D9-7EE2-B1E76633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B03760-0D76-43B8-CD01-DD059400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15" y="1131711"/>
            <a:ext cx="9103006" cy="859055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1: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JavaScript, VS Code, SourceTree, GitHub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44A03-0806-B1FD-D87D-597E53C89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8ECC1C-157B-FF3C-779C-45FB6CCE5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2260446"/>
            <a:ext cx="4440061" cy="394885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Công </a:t>
            </a:r>
            <a:r>
              <a:rPr lang="en-US" b="1" dirty="0" err="1"/>
              <a:t>nghệ</a:t>
            </a:r>
            <a:r>
              <a:rPr lang="en-US" b="1" dirty="0"/>
              <a:t> </a:t>
            </a:r>
            <a:r>
              <a:rPr lang="en-US" b="1" dirty="0" err="1"/>
              <a:t>sẽ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	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	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0DEC89-620C-FEB4-9FC7-4A803955E3C6}"/>
              </a:ext>
            </a:extLst>
          </p:cNvPr>
          <p:cNvGrpSpPr/>
          <p:nvPr/>
        </p:nvGrpSpPr>
        <p:grpSpPr>
          <a:xfrm>
            <a:off x="533400" y="2712243"/>
            <a:ext cx="2249037" cy="2060936"/>
            <a:chOff x="6736297" y="2648869"/>
            <a:chExt cx="2249037" cy="206093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2BD3613-8A9A-6775-468D-735CD14EC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1192" y="2697336"/>
              <a:ext cx="656970" cy="65697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C1E93F-F811-D6ED-98C8-105171515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5426" y="2648869"/>
              <a:ext cx="672428" cy="672428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8D89FF8-1159-7491-509C-786A0CB24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36297" y="3766575"/>
              <a:ext cx="943230" cy="94323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3E32092-573E-C918-4E1D-2ECCFEA3A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7946" y="3801179"/>
              <a:ext cx="867388" cy="867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712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là gì?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2048" y="1432699"/>
            <a:ext cx="9372600" cy="3358860"/>
          </a:xfrm>
        </p:spPr>
        <p:txBody>
          <a:bodyPr anchor="t">
            <a:normAutofit/>
          </a:bodyPr>
          <a:lstStyle/>
          <a:p>
            <a:pPr algn="l"/>
            <a:r>
              <a:rPr lang="en-US" sz="2200" b="1" dirty="0"/>
              <a:t>Định </a:t>
            </a:r>
            <a:r>
              <a:rPr lang="en-US" sz="2200" b="1" dirty="0" err="1"/>
              <a:t>nghĩa</a:t>
            </a:r>
            <a:r>
              <a:rPr lang="en-US" sz="2200" b="1" dirty="0"/>
              <a:t> </a:t>
            </a:r>
            <a:r>
              <a:rPr lang="en-US" sz="2200" b="1" dirty="0" err="1"/>
              <a:t>và</a:t>
            </a:r>
            <a:r>
              <a:rPr lang="en-US" sz="2200" b="1" dirty="0"/>
              <a:t> </a:t>
            </a:r>
            <a:r>
              <a:rPr lang="en-US" sz="2200" b="1" dirty="0" err="1"/>
              <a:t>ứng</a:t>
            </a:r>
            <a:r>
              <a:rPr lang="en-US" sz="2200" b="1" dirty="0"/>
              <a:t> </a:t>
            </a:r>
            <a:r>
              <a:rPr lang="en-US" sz="2200" b="1" dirty="0" err="1"/>
              <a:t>dụng</a:t>
            </a:r>
            <a:endParaRPr lang="en-US" sz="2200" b="1" dirty="0"/>
          </a:p>
          <a:p>
            <a:pPr algn="l"/>
            <a:r>
              <a:rPr lang="en-US" sz="1700" b="1" dirty="0"/>
              <a:t>JavaScript (</a:t>
            </a:r>
            <a:r>
              <a:rPr lang="en-US" sz="1700" dirty="0" err="1"/>
              <a:t>viết</a:t>
            </a:r>
            <a:r>
              <a:rPr lang="en-US" sz="1700" dirty="0"/>
              <a:t> </a:t>
            </a:r>
            <a:r>
              <a:rPr lang="en-US" sz="1700" dirty="0" err="1"/>
              <a:t>tắt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b="1" dirty="0"/>
              <a:t>JS)</a:t>
            </a:r>
            <a:r>
              <a:rPr lang="en-US" sz="1700" dirty="0"/>
              <a:t> </a:t>
            </a:r>
            <a:r>
              <a:rPr lang="en-US" sz="1700" dirty="0" err="1"/>
              <a:t>là</a:t>
            </a:r>
            <a:r>
              <a:rPr lang="en-US" sz="1700" dirty="0"/>
              <a:t> </a:t>
            </a:r>
            <a:r>
              <a:rPr lang="en-US" sz="1700" dirty="0" err="1"/>
              <a:t>một</a:t>
            </a:r>
            <a:r>
              <a:rPr lang="en-US" sz="1700" dirty="0"/>
              <a:t> </a:t>
            </a:r>
            <a:r>
              <a:rPr lang="en-US" sz="1700" dirty="0" err="1"/>
              <a:t>ngôn</a:t>
            </a:r>
            <a:r>
              <a:rPr lang="en-US" sz="1700" dirty="0"/>
              <a:t> </a:t>
            </a:r>
            <a:r>
              <a:rPr lang="en-US" sz="1700" dirty="0" err="1"/>
              <a:t>ngữ</a:t>
            </a:r>
            <a:r>
              <a:rPr lang="en-US" sz="1700" dirty="0"/>
              <a:t> </a:t>
            </a:r>
            <a:r>
              <a:rPr lang="en-US" sz="1700" dirty="0" err="1"/>
              <a:t>lập</a:t>
            </a:r>
            <a:r>
              <a:rPr lang="en-US" sz="1700" dirty="0"/>
              <a:t> </a:t>
            </a:r>
            <a:r>
              <a:rPr lang="en-US" sz="1700" dirty="0" err="1"/>
              <a:t>trình</a:t>
            </a:r>
            <a:r>
              <a:rPr lang="en-US" sz="1700" dirty="0"/>
              <a:t>, </a:t>
            </a:r>
            <a:r>
              <a:rPr lang="en-US" sz="1700" dirty="0" err="1"/>
              <a:t>được</a:t>
            </a:r>
            <a:r>
              <a:rPr lang="en-US" sz="1700" dirty="0"/>
              <a:t> </a:t>
            </a:r>
            <a:r>
              <a:rPr lang="en-US" sz="1700" dirty="0" err="1"/>
              <a:t>dùng</a:t>
            </a:r>
            <a:r>
              <a:rPr lang="en-US" sz="1700" dirty="0"/>
              <a:t> </a:t>
            </a:r>
            <a:r>
              <a:rPr lang="en-US" sz="1700" dirty="0" err="1"/>
              <a:t>phổ</a:t>
            </a:r>
            <a:r>
              <a:rPr lang="en-US" sz="1700" dirty="0"/>
              <a:t> </a:t>
            </a:r>
            <a:r>
              <a:rPr lang="en-US" sz="1700" dirty="0" err="1"/>
              <a:t>biến</a:t>
            </a:r>
            <a:r>
              <a:rPr lang="en-US" sz="1700" dirty="0"/>
              <a:t> </a:t>
            </a:r>
            <a:r>
              <a:rPr lang="en-US" sz="1700" dirty="0" err="1"/>
              <a:t>nhất</a:t>
            </a:r>
            <a:r>
              <a:rPr lang="en-US" sz="1700" dirty="0"/>
              <a:t> </a:t>
            </a:r>
            <a:r>
              <a:rPr lang="en-US" sz="1700" dirty="0" err="1"/>
              <a:t>để</a:t>
            </a:r>
            <a:r>
              <a:rPr lang="en-US" sz="1700" dirty="0"/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vi-VN" sz="1700" dirty="0"/>
              <a:t>Tạo hiệu ứng tương tác trên website</a:t>
            </a:r>
          </a:p>
          <a:p>
            <a:pPr marL="342900" indent="-342900" algn="l">
              <a:buFont typeface="+mj-lt"/>
              <a:buAutoNum type="arabicPeriod"/>
            </a:pPr>
            <a:r>
              <a:rPr lang="vi-VN" sz="1700" dirty="0"/>
              <a:t>Xử lý logic phía client (trình duyệt)</a:t>
            </a:r>
          </a:p>
          <a:p>
            <a:pPr marL="342900" indent="-342900" algn="l">
              <a:buFont typeface="+mj-lt"/>
              <a:buAutoNum type="arabicPeriod"/>
            </a:pPr>
            <a:r>
              <a:rPr lang="vi-VN" sz="1700" dirty="0"/>
              <a:t>Phát triển backend (Node.js)</a:t>
            </a:r>
          </a:p>
          <a:p>
            <a:pPr marL="342900" indent="-342900" algn="l">
              <a:buFont typeface="+mj-lt"/>
              <a:buAutoNum type="arabicPeriod"/>
            </a:pPr>
            <a:r>
              <a:rPr lang="vi-VN" sz="1700" dirty="0"/>
              <a:t>Xây dựng app mobile, desktop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2BA7A-5888-C702-CC06-2D18BC09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C8B181-4EEF-26C0-408B-E81FE03A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là gì?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0E6541-C426-FD3D-9F40-4ED12854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CAF6823-FFB8-924E-FBE0-20561BE7671A}"/>
              </a:ext>
            </a:extLst>
          </p:cNvPr>
          <p:cNvSpPr txBox="1">
            <a:spLocks/>
          </p:cNvSpPr>
          <p:nvPr/>
        </p:nvSpPr>
        <p:spPr>
          <a:xfrm>
            <a:off x="533400" y="1604274"/>
            <a:ext cx="11125200" cy="4588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/>
              <a:t>Ví</a:t>
            </a:r>
            <a:r>
              <a:rPr lang="en-US" sz="2400" b="1" dirty="0"/>
              <a:t> </a:t>
            </a:r>
            <a:r>
              <a:rPr lang="en-US" sz="2400" b="1" dirty="0" err="1"/>
              <a:t>dụ</a:t>
            </a:r>
            <a:endParaRPr lang="vi-VN" sz="2400" b="1" dirty="0"/>
          </a:p>
          <a:p>
            <a:r>
              <a:rPr lang="en-US" dirty="0"/>
              <a:t>console.log("Hello, world!");</a:t>
            </a:r>
          </a:p>
          <a:p>
            <a:r>
              <a:rPr lang="en-US" dirty="0"/>
              <a:t>alert("Xin </a:t>
            </a:r>
            <a:r>
              <a:rPr lang="en-US" dirty="0" err="1"/>
              <a:t>chào</a:t>
            </a:r>
            <a:r>
              <a:rPr lang="en-US" dirty="0"/>
              <a:t> JavaScript!"); </a:t>
            </a:r>
          </a:p>
          <a:p>
            <a:r>
              <a:rPr lang="en-US" dirty="0"/>
              <a:t>Comment </a:t>
            </a:r>
            <a:r>
              <a:rPr lang="en-US" dirty="0" err="1"/>
              <a:t>trong</a:t>
            </a:r>
            <a:r>
              <a:rPr lang="en-US" dirty="0"/>
              <a:t> code: // comment</a:t>
            </a:r>
          </a:p>
        </p:txBody>
      </p:sp>
    </p:spTree>
    <p:extLst>
      <p:ext uri="{BB962C8B-B14F-4D97-AF65-F5344CB8AC3E}">
        <p14:creationId xmlns:p14="http://schemas.microsoft.com/office/powerpoint/2010/main" val="220757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F655-C030-4369-7E67-1225C23B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456EDD-B0F2-2D75-EB5B-BAAF783D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là gì?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5CDAC4-A19E-24B1-35E4-66A998F5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512CB64-9FCE-FDCC-DD53-1C892F9E8326}"/>
              </a:ext>
            </a:extLst>
          </p:cNvPr>
          <p:cNvSpPr txBox="1">
            <a:spLocks/>
          </p:cNvSpPr>
          <p:nvPr/>
        </p:nvSpPr>
        <p:spPr>
          <a:xfrm>
            <a:off x="533400" y="1604274"/>
            <a:ext cx="11125200" cy="4588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JavaScript </a:t>
            </a:r>
            <a:r>
              <a:rPr lang="en-US" sz="2400" b="1" dirty="0" err="1"/>
              <a:t>chạy</a:t>
            </a:r>
            <a:r>
              <a:rPr lang="en-US" sz="2400" b="1" dirty="0"/>
              <a:t> ở </a:t>
            </a:r>
            <a:r>
              <a:rPr lang="en-US" sz="2400" b="1" dirty="0" err="1"/>
              <a:t>đâu</a:t>
            </a:r>
            <a:r>
              <a:rPr lang="en-US" sz="2400" b="1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: Chrome, Edge, Firefox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server: Node.js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62E12-DBD7-D845-C5DE-1A776CAE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68" y="3033508"/>
            <a:ext cx="864914" cy="8649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338F5F-958A-2F93-28EA-B8D732AFF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386" y="2996243"/>
            <a:ext cx="962025" cy="96202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1E23B6D-220F-F69B-3010-BA8DBC1301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486150" y="3033508"/>
            <a:ext cx="1082780" cy="10827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17C007-2476-B0B3-9184-7A976492CB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892" y="4387182"/>
            <a:ext cx="2345011" cy="14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2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 (VS Code)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511445"/>
            <a:ext cx="9372600" cy="3358860"/>
          </a:xfrm>
        </p:spPr>
        <p:txBody>
          <a:bodyPr anchor="t">
            <a:normAutofit/>
          </a:bodyPr>
          <a:lstStyle/>
          <a:p>
            <a:pPr marL="0" indent="0" algn="l">
              <a:buNone/>
            </a:pPr>
            <a:r>
              <a:rPr lang="en-US" sz="1900" b="1" dirty="0"/>
              <a:t>VS Code</a:t>
            </a:r>
            <a:r>
              <a:rPr lang="en-US" sz="1900" dirty="0"/>
              <a:t>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trình</a:t>
            </a:r>
            <a:r>
              <a:rPr lang="en-US" sz="1900" dirty="0"/>
              <a:t> </a:t>
            </a:r>
            <a:r>
              <a:rPr lang="en-US" sz="1900" dirty="0" err="1"/>
              <a:t>soạn</a:t>
            </a:r>
            <a:r>
              <a:rPr lang="en-US" sz="1900" dirty="0"/>
              <a:t> </a:t>
            </a:r>
            <a:r>
              <a:rPr lang="en-US" sz="1900" dirty="0" err="1"/>
              <a:t>thảo</a:t>
            </a:r>
            <a:r>
              <a:rPr lang="en-US" sz="1900" dirty="0"/>
              <a:t> code </a:t>
            </a:r>
            <a:r>
              <a:rPr lang="en-US" sz="1900" dirty="0" err="1"/>
              <a:t>miễn</a:t>
            </a:r>
            <a:r>
              <a:rPr lang="en-US" sz="1900" dirty="0"/>
              <a:t> </a:t>
            </a:r>
            <a:r>
              <a:rPr lang="en-US" sz="1900" dirty="0" err="1"/>
              <a:t>phí</a:t>
            </a:r>
            <a:r>
              <a:rPr lang="en-US" sz="1900" dirty="0"/>
              <a:t>, </a:t>
            </a:r>
            <a:r>
              <a:rPr lang="en-US" sz="1900" dirty="0" err="1"/>
              <a:t>rất</a:t>
            </a:r>
            <a:r>
              <a:rPr lang="en-US" sz="1900" dirty="0"/>
              <a:t> </a:t>
            </a:r>
            <a:r>
              <a:rPr lang="en-US" sz="1900" dirty="0" err="1"/>
              <a:t>phổ</a:t>
            </a:r>
            <a:r>
              <a:rPr lang="en-US" sz="1900" dirty="0"/>
              <a:t> </a:t>
            </a:r>
            <a:r>
              <a:rPr lang="en-US" sz="1900" dirty="0" err="1"/>
              <a:t>biến</a:t>
            </a:r>
            <a:r>
              <a:rPr lang="en-US" sz="1900" dirty="0"/>
              <a:t>.</a:t>
            </a:r>
          </a:p>
          <a:p>
            <a:pPr marL="0" indent="0" algn="l">
              <a:buNone/>
            </a:pPr>
            <a:endParaRPr lang="en-US" sz="1900" dirty="0"/>
          </a:p>
          <a:p>
            <a:pPr marL="0" indent="0" algn="l">
              <a:buNone/>
            </a:pPr>
            <a:r>
              <a:rPr lang="en-US" sz="1900" b="1" dirty="0"/>
              <a:t>Tính </a:t>
            </a:r>
            <a:r>
              <a:rPr lang="en-US" sz="1900" b="1" dirty="0" err="1"/>
              <a:t>năng</a:t>
            </a:r>
            <a:r>
              <a:rPr lang="en-US" sz="1900" b="1" dirty="0"/>
              <a:t> </a:t>
            </a:r>
            <a:r>
              <a:rPr lang="en-US" sz="1900" b="1" dirty="0" err="1"/>
              <a:t>chính</a:t>
            </a:r>
            <a:r>
              <a:rPr lang="en-US" sz="1900" b="1" dirty="0"/>
              <a:t>:</a:t>
            </a:r>
            <a:endParaRPr lang="en-US" sz="19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Highlight </a:t>
            </a:r>
            <a:r>
              <a:rPr lang="en-US" sz="1600" dirty="0" err="1"/>
              <a:t>cú</a:t>
            </a:r>
            <a:r>
              <a:rPr lang="en-US" sz="1600" dirty="0"/>
              <a:t> </a:t>
            </a:r>
            <a:r>
              <a:rPr lang="en-US" sz="1600" dirty="0" err="1"/>
              <a:t>pháp</a:t>
            </a:r>
            <a:endParaRPr lang="en-US" sz="1600" dirty="0"/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Gợi</a:t>
            </a:r>
            <a:r>
              <a:rPr lang="en-US" sz="1600" dirty="0"/>
              <a:t> ý code (IntelliSense)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Debug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Hỗ</a:t>
            </a:r>
            <a:r>
              <a:rPr lang="en-US" sz="1600" dirty="0"/>
              <a:t> </a:t>
            </a:r>
            <a:r>
              <a:rPr lang="en-US" sz="1600" dirty="0" err="1"/>
              <a:t>trợ</a:t>
            </a:r>
            <a:r>
              <a:rPr lang="en-US" sz="1600" dirty="0"/>
              <a:t> extension (</a:t>
            </a:r>
            <a:r>
              <a:rPr lang="en-US" sz="1600" dirty="0" err="1"/>
              <a:t>mở</a:t>
            </a:r>
            <a:r>
              <a:rPr lang="en-US" sz="1600" dirty="0"/>
              <a:t> </a:t>
            </a:r>
            <a:r>
              <a:rPr lang="en-US" sz="1600" dirty="0" err="1"/>
              <a:t>rộng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ECCFB-1F7B-A871-DF93-2839FCB2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8B629B0-F669-D336-525C-A9624F0C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 (VS Code)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82809-CDC1-CE0B-F49F-7E65D49F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47A62B2-0AE4-6D5D-4E91-E0D0A7BC60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1492395"/>
            <a:ext cx="9372600" cy="4003530"/>
          </a:xfrm>
        </p:spPr>
        <p:txBody>
          <a:bodyPr anchor="t">
            <a:noAutofit/>
          </a:bodyPr>
          <a:lstStyle/>
          <a:p>
            <a:pPr marL="0" indent="0" algn="l">
              <a:buNone/>
            </a:pPr>
            <a:r>
              <a:rPr lang="en-US" sz="1600" b="1" dirty="0"/>
              <a:t>VS Code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soạn</a:t>
            </a:r>
            <a:r>
              <a:rPr lang="en-US" sz="1600" dirty="0"/>
              <a:t> </a:t>
            </a:r>
            <a:r>
              <a:rPr lang="en-US" sz="1600" dirty="0" err="1"/>
              <a:t>thảo</a:t>
            </a:r>
            <a:r>
              <a:rPr lang="en-US" sz="1600" dirty="0"/>
              <a:t> code </a:t>
            </a:r>
            <a:r>
              <a:rPr lang="en-US" sz="1600" dirty="0" err="1"/>
              <a:t>miễn</a:t>
            </a:r>
            <a:r>
              <a:rPr lang="en-US" sz="1600" dirty="0"/>
              <a:t> </a:t>
            </a:r>
            <a:r>
              <a:rPr lang="en-US" sz="1600" dirty="0" err="1"/>
              <a:t>phí</a:t>
            </a:r>
            <a:r>
              <a:rPr lang="en-US" sz="1600" dirty="0"/>
              <a:t>, </a:t>
            </a:r>
            <a:r>
              <a:rPr lang="en-US" sz="1600" dirty="0" err="1"/>
              <a:t>rất</a:t>
            </a:r>
            <a:r>
              <a:rPr lang="en-US" sz="1600" dirty="0"/>
              <a:t> </a:t>
            </a:r>
            <a:r>
              <a:rPr lang="en-US" sz="1600" dirty="0" err="1"/>
              <a:t>phổ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.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/>
              <a:t>Extension </a:t>
            </a:r>
            <a:r>
              <a:rPr lang="en-US" sz="1600" b="1" dirty="0" err="1"/>
              <a:t>nên</a:t>
            </a:r>
            <a:r>
              <a:rPr lang="en-US" sz="1600" b="1" dirty="0"/>
              <a:t> </a:t>
            </a:r>
            <a:r>
              <a:rPr lang="en-US" sz="1600" b="1" dirty="0" err="1"/>
              <a:t>cài</a:t>
            </a:r>
            <a:r>
              <a:rPr lang="en-US" sz="1600" b="1" dirty="0"/>
              <a:t>:</a:t>
            </a:r>
            <a:endParaRPr lang="en-US" sz="1600" dirty="0"/>
          </a:p>
          <a:p>
            <a:pPr lvl="0" algn="l"/>
            <a:r>
              <a:rPr lang="en-US" sz="1600" dirty="0"/>
              <a:t>Prettier → format code</a:t>
            </a:r>
          </a:p>
          <a:p>
            <a:pPr marL="0" indent="0" algn="l">
              <a:buNone/>
            </a:pPr>
            <a:endParaRPr lang="en-US" sz="1600" b="1" dirty="0"/>
          </a:p>
          <a:p>
            <a:pPr marL="0" indent="0" algn="l">
              <a:buNone/>
            </a:pPr>
            <a:r>
              <a:rPr lang="en-US" sz="1600" b="1" dirty="0"/>
              <a:t>Cách </a:t>
            </a:r>
            <a:r>
              <a:rPr lang="en-US" sz="1600" b="1" dirty="0" err="1"/>
              <a:t>sử</a:t>
            </a:r>
            <a:r>
              <a:rPr lang="en-US" sz="1600" b="1" dirty="0"/>
              <a:t> </a:t>
            </a:r>
            <a:r>
              <a:rPr lang="en-US" sz="1600" b="1" dirty="0" err="1"/>
              <a:t>dụng</a:t>
            </a:r>
            <a:r>
              <a:rPr lang="en-US" sz="1600" b="1" dirty="0"/>
              <a:t> </a:t>
            </a:r>
            <a:r>
              <a:rPr lang="en-US" sz="1600" b="1" dirty="0" err="1"/>
              <a:t>cơ</a:t>
            </a:r>
            <a:r>
              <a:rPr lang="en-US" sz="1600" b="1" dirty="0"/>
              <a:t> </a:t>
            </a:r>
            <a:r>
              <a:rPr lang="en-US" sz="1600" b="1" dirty="0" err="1"/>
              <a:t>bản</a:t>
            </a:r>
            <a:r>
              <a:rPr lang="en-US" sz="1600" b="1" dirty="0"/>
              <a:t>:</a:t>
            </a:r>
            <a:endParaRPr lang="en-US" sz="1600" dirty="0"/>
          </a:p>
          <a:p>
            <a:pPr lvl="0" algn="l"/>
            <a:r>
              <a:rPr lang="en-US" sz="1600" dirty="0" err="1"/>
              <a:t>Mở</a:t>
            </a:r>
            <a:r>
              <a:rPr lang="en-US" sz="1600" dirty="0"/>
              <a:t> VS Code</a:t>
            </a:r>
          </a:p>
          <a:p>
            <a:pPr lvl="0" algn="l"/>
            <a:r>
              <a:rPr lang="en-US" sz="1600" dirty="0" err="1"/>
              <a:t>Mở</a:t>
            </a:r>
            <a:r>
              <a:rPr lang="en-US" sz="1600" dirty="0"/>
              <a:t> </a:t>
            </a:r>
            <a:r>
              <a:rPr lang="en-US" sz="1600" dirty="0" err="1"/>
              <a:t>thư</a:t>
            </a:r>
            <a:r>
              <a:rPr lang="en-US" sz="1600" dirty="0"/>
              <a:t> </a:t>
            </a:r>
            <a:r>
              <a:rPr lang="en-US" sz="1600" dirty="0" err="1"/>
              <a:t>mục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án</a:t>
            </a:r>
            <a:endParaRPr lang="en-US" sz="1600" dirty="0"/>
          </a:p>
          <a:p>
            <a:pPr lvl="0" algn="l"/>
            <a:r>
              <a:rPr lang="en-US" sz="1600" dirty="0" err="1"/>
              <a:t>Tạo</a:t>
            </a:r>
            <a:r>
              <a:rPr lang="en-US" sz="1600" dirty="0"/>
              <a:t> file .</a:t>
            </a:r>
            <a:r>
              <a:rPr lang="en-US" sz="1600" dirty="0" err="1"/>
              <a:t>js</a:t>
            </a:r>
            <a:r>
              <a:rPr lang="en-US" sz="1600" dirty="0"/>
              <a:t>, .html</a:t>
            </a:r>
          </a:p>
          <a:p>
            <a:pPr lvl="0" algn="l"/>
            <a:r>
              <a:rPr lang="en-US" sz="1600" dirty="0" err="1"/>
              <a:t>Viết</a:t>
            </a:r>
            <a:r>
              <a:rPr lang="en-US" sz="1600" dirty="0"/>
              <a:t> code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chạy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414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Giới thiệu Git &amp; GitHub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58802" y="1376834"/>
            <a:ext cx="5157787" cy="3653936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b="1" dirty="0"/>
              <a:t>Git</a:t>
            </a:r>
          </a:p>
          <a:p>
            <a:pPr marL="0" indent="0">
              <a:buNone/>
            </a:pPr>
            <a:r>
              <a:rPr lang="en-US" b="1" dirty="0"/>
              <a:t>Git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 </a:t>
            </a:r>
          </a:p>
          <a:p>
            <a:r>
              <a:rPr lang="en-US" dirty="0"/>
              <a:t>Git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. </a:t>
            </a:r>
          </a:p>
          <a:p>
            <a:pPr marL="0" indent="0">
              <a:buNone/>
            </a:pPr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</a:t>
            </a:r>
            <a:r>
              <a:rPr lang="en-US" b="1" dirty="0" err="1"/>
              <a:t>cần</a:t>
            </a:r>
            <a:r>
              <a:rPr lang="en-US" b="1" dirty="0"/>
              <a:t> Git?</a:t>
            </a:r>
            <a:endParaRPr lang="en-US" dirty="0"/>
          </a:p>
          <a:p>
            <a:pPr lvl="0"/>
            <a:r>
              <a:rPr lang="en-US" dirty="0"/>
              <a:t>Lưu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code</a:t>
            </a:r>
          </a:p>
          <a:p>
            <a:pPr lvl="0"/>
            <a:r>
              <a:rPr lang="en-US" dirty="0"/>
              <a:t>Làm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 lvl="0"/>
            <a:r>
              <a:rPr lang="en-US" dirty="0"/>
              <a:t>Quay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cũ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>
          <a:xfrm>
            <a:off x="6096000" y="1397898"/>
            <a:ext cx="5562600" cy="3653936"/>
          </a:xfrm>
        </p:spPr>
        <p:txBody>
          <a:bodyPr/>
          <a:lstStyle/>
          <a:p>
            <a:pPr marL="0" indent="0" algn="ctr">
              <a:buNone/>
            </a:pPr>
            <a:r>
              <a:rPr lang="en-US" sz="2000" b="1" dirty="0"/>
              <a:t>GitHub</a:t>
            </a:r>
          </a:p>
          <a:p>
            <a:pPr marL="0" indent="0">
              <a:buNone/>
            </a:pPr>
            <a:r>
              <a:rPr lang="en-US" b="1" dirty="0"/>
              <a:t>GitHub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</a:t>
            </a:r>
            <a:r>
              <a:rPr lang="en-US" dirty="0"/>
              <a:t> </a:t>
            </a:r>
          </a:p>
          <a:p>
            <a:r>
              <a:rPr lang="en-US" dirty="0"/>
              <a:t>GitHub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code online,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Git.</a:t>
            </a:r>
          </a:p>
          <a:p>
            <a:pPr marL="0" indent="0">
              <a:buNone/>
            </a:pPr>
            <a:r>
              <a:rPr lang="en-US" b="1" dirty="0"/>
              <a:t>Lợi </a:t>
            </a:r>
            <a:r>
              <a:rPr lang="en-US" b="1" dirty="0" err="1"/>
              <a:t>ích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GitHub</a:t>
            </a:r>
            <a:endParaRPr lang="en-US" dirty="0"/>
          </a:p>
          <a:p>
            <a:pPr lvl="0"/>
            <a:r>
              <a:rPr lang="en-US" dirty="0"/>
              <a:t>Lưu </a:t>
            </a:r>
            <a:r>
              <a:rPr lang="en-US" dirty="0" err="1"/>
              <a:t>trữ</a:t>
            </a:r>
            <a:r>
              <a:rPr lang="en-US" dirty="0"/>
              <a:t> code </a:t>
            </a:r>
            <a:r>
              <a:rPr lang="en-US" dirty="0" err="1"/>
              <a:t>trên</a:t>
            </a:r>
            <a:r>
              <a:rPr lang="en-US" dirty="0"/>
              <a:t> cloud</a:t>
            </a:r>
          </a:p>
          <a:p>
            <a:pPr lvl="0"/>
            <a:r>
              <a:rPr lang="en-US" dirty="0"/>
              <a:t>Làm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endParaRPr lang="en-US" dirty="0"/>
          </a:p>
          <a:p>
            <a:pPr lvl="0"/>
            <a:r>
              <a:rPr lang="en-US" dirty="0"/>
              <a:t>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code</a:t>
            </a:r>
          </a:p>
          <a:p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5E4BA4F-6060-9076-A6DD-3076D9D95998}"/>
              </a:ext>
            </a:extLst>
          </p:cNvPr>
          <p:cNvSpPr txBox="1">
            <a:spLocks/>
          </p:cNvSpPr>
          <p:nvPr/>
        </p:nvSpPr>
        <p:spPr>
          <a:xfrm>
            <a:off x="423501" y="5350212"/>
            <a:ext cx="10828699" cy="1010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Cách </a:t>
            </a:r>
            <a:r>
              <a:rPr lang="en-US" b="1" dirty="0" err="1"/>
              <a:t>dùng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812B-8611-26DE-4525-BB68C45D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CF56F9-B9F0-FF69-1D4A-0A56AF82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Giới thiệu SourceTree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311BE8-3D8E-ADDC-4ADB-0C898CEB9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C486A9-AE6D-2920-6CC4-0C9763D3B6F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563515"/>
            <a:ext cx="5157787" cy="2764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SourceTree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Git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Tính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dirty="0"/>
          </a:p>
          <a:p>
            <a:pPr lvl="0"/>
            <a:r>
              <a:rPr lang="en-US" dirty="0"/>
              <a:t>Xem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commit</a:t>
            </a:r>
          </a:p>
          <a:p>
            <a:pPr lvl="0"/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thả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merge</a:t>
            </a:r>
          </a:p>
          <a:p>
            <a:pPr lvl="0"/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branch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5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16F18-CA22-DED1-F66C-F7E3FA1A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3F2800-880D-EDDE-F8BD-3A7E65F9A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&amp;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EB1F8-EB5A-C97D-EC70-17677916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42869E-E5A8-9FBC-E63C-7662DEBD5EE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681163"/>
            <a:ext cx="5157787" cy="535531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6CC4B0-8003-A495-D1D2-F2859E11EFA6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287792"/>
            <a:ext cx="5157787" cy="2764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Tạo</a:t>
            </a:r>
            <a:r>
              <a:rPr lang="en-US" dirty="0"/>
              <a:t> folder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XuanNT</a:t>
            </a:r>
            <a:r>
              <a:rPr lang="en-US" dirty="0"/>
              <a:t>(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)  → frontend  → file </a:t>
            </a:r>
            <a:r>
              <a:rPr lang="en-US" i="1" dirty="0"/>
              <a:t>index.html</a:t>
            </a:r>
            <a:r>
              <a:rPr lang="en-US" dirty="0"/>
              <a:t>, file </a:t>
            </a:r>
            <a:r>
              <a:rPr lang="en-US" i="1" dirty="0"/>
              <a:t>script.js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commit, push file </a:t>
            </a:r>
            <a:r>
              <a:rPr lang="en-US" dirty="0" err="1"/>
              <a:t>lên</a:t>
            </a:r>
            <a:r>
              <a:rPr lang="en-US" dirty="0"/>
              <a:t> git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25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1F10-D5F3-CD1D-C9F4-D2B14216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DAA447-08CD-2012-29A6-E12EBCFC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768" y="533400"/>
            <a:ext cx="7781544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Bài 2: Biến và kiểu dữ liệu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7F101-94C8-512E-9EDF-F3B3ADCE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5EEF19B-A166-2798-9AE9-7E27D5302D5B}"/>
              </a:ext>
            </a:extLst>
          </p:cNvPr>
          <p:cNvSpPr txBox="1">
            <a:spLocks/>
          </p:cNvSpPr>
          <p:nvPr/>
        </p:nvSpPr>
        <p:spPr>
          <a:xfrm>
            <a:off x="533400" y="1604274"/>
            <a:ext cx="11125200" cy="4588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/>
              <a:t>Mục</a:t>
            </a:r>
            <a:r>
              <a:rPr lang="en-US" sz="2400" b="1" dirty="0"/>
              <a:t> </a:t>
            </a:r>
            <a:r>
              <a:rPr lang="en-US" sz="2400" b="1" dirty="0" err="1"/>
              <a:t>tiêu</a:t>
            </a:r>
            <a:endParaRPr lang="en-US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Biết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8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CC30-DF00-A18E-8F21-3C56B1DB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C766CF-D5B3-5804-34F8-E2D71F34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Biến (Variable) là gì?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1DED56-CC53-5E37-184C-6F129075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C1899-115D-5700-D0C4-E63E6360E1C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572568"/>
            <a:ext cx="5157787" cy="4592841"/>
          </a:xfrm>
        </p:spPr>
        <p:txBody>
          <a:bodyPr>
            <a:normAutofit/>
          </a:bodyPr>
          <a:lstStyle/>
          <a:p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 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Có</a:t>
            </a:r>
            <a:r>
              <a:rPr lang="en-US" b="1" dirty="0"/>
              <a:t> 3 </a:t>
            </a:r>
            <a:r>
              <a:rPr lang="en-US" b="1" dirty="0" err="1"/>
              <a:t>cách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</a:t>
            </a:r>
            <a:r>
              <a:rPr lang="en-US" b="1" dirty="0" err="1"/>
              <a:t>báo</a:t>
            </a:r>
            <a:r>
              <a:rPr lang="en-US" b="1" dirty="0"/>
              <a:t> </a:t>
            </a:r>
            <a:r>
              <a:rPr lang="en-US" b="1" dirty="0" err="1"/>
              <a:t>biến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JS:</a:t>
            </a:r>
          </a:p>
          <a:p>
            <a:r>
              <a:rPr lang="en-US" dirty="0"/>
              <a:t>let name = "An";</a:t>
            </a:r>
          </a:p>
          <a:p>
            <a:r>
              <a:rPr lang="en-US" dirty="0"/>
              <a:t>const age = 20;</a:t>
            </a:r>
          </a:p>
          <a:p>
            <a:r>
              <a:rPr lang="en-US" dirty="0"/>
              <a:t>var city = "Hà </a:t>
            </a:r>
            <a:r>
              <a:rPr lang="en-US" dirty="0" err="1"/>
              <a:t>Nội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b="1" dirty="0"/>
              <a:t>Cách </a:t>
            </a:r>
            <a:r>
              <a:rPr lang="en-US" b="1" dirty="0" err="1"/>
              <a:t>dùng</a:t>
            </a:r>
            <a:endParaRPr lang="en-US" b="1" dirty="0"/>
          </a:p>
          <a:p>
            <a:r>
              <a:rPr lang="en-US" dirty="0"/>
              <a:t>let: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r>
              <a:rPr lang="en-US" dirty="0"/>
              <a:t>const: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 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r>
              <a:rPr lang="en-US" dirty="0"/>
              <a:t>var: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dùng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25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5B15A-242D-38C4-7E89-B0152B37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4590E-FCFD-30C0-AC98-6B5F25DA1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Kiểu dữ liệu (Data Types)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718DEA-6684-54E6-428B-B4B9F0FD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E5A5C1-D1BD-8DFC-47C5-ED867B7A3D7B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572569"/>
            <a:ext cx="5157787" cy="4574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Định </a:t>
            </a:r>
            <a:r>
              <a:rPr lang="en-US" b="1" dirty="0" err="1"/>
              <a:t>nghĩa</a:t>
            </a:r>
            <a:r>
              <a:rPr lang="en-US" b="1" dirty="0"/>
              <a:t>: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Các </a:t>
            </a:r>
            <a:r>
              <a:rPr lang="en-US" b="1" dirty="0" err="1"/>
              <a:t>kiểu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: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Number (</a:t>
            </a:r>
            <a:r>
              <a:rPr lang="en-US" sz="1600" dirty="0" err="1"/>
              <a:t>Số</a:t>
            </a:r>
            <a:r>
              <a:rPr lang="en-US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String (</a:t>
            </a:r>
            <a:r>
              <a:rPr lang="en-US" sz="1600" dirty="0" err="1"/>
              <a:t>Chuỗi</a:t>
            </a:r>
            <a:r>
              <a:rPr lang="en-US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Boolean (</a:t>
            </a:r>
            <a:r>
              <a:rPr lang="en-US" sz="1600" dirty="0" err="1"/>
              <a:t>Đúng</a:t>
            </a:r>
            <a:r>
              <a:rPr lang="en-US" sz="1600" dirty="0"/>
              <a:t>/Sai)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Undefined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Null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Object (</a:t>
            </a:r>
            <a:r>
              <a:rPr lang="en-US" sz="1600" dirty="0" err="1"/>
              <a:t>Đối</a:t>
            </a:r>
            <a:r>
              <a:rPr lang="en-US" sz="1600" dirty="0"/>
              <a:t> </a:t>
            </a:r>
            <a:r>
              <a:rPr lang="en-US" sz="1600" dirty="0" err="1"/>
              <a:t>tượng</a:t>
            </a:r>
            <a:r>
              <a:rPr lang="en-US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Array (</a:t>
            </a:r>
            <a:r>
              <a:rPr lang="en-US" sz="1600" dirty="0" err="1"/>
              <a:t>Mảng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7201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C5A8-F838-1051-B233-9AD724A5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17608-4FC3-113D-4394-C93DAD7E9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Kiểu dữ liệu (Data Types)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ABE60-C63F-3C14-A519-B630C642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EF536E-758E-6072-2BAA-8ECCADB183A1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1" y="1572569"/>
            <a:ext cx="3830370" cy="1856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Number (</a:t>
            </a:r>
            <a:r>
              <a:rPr lang="en-US" b="1" dirty="0" err="1"/>
              <a:t>Số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let age = 25;</a:t>
            </a:r>
          </a:p>
          <a:p>
            <a:r>
              <a:rPr lang="en-US" dirty="0"/>
              <a:t>let price = 99.5;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40319D8-59EA-AD77-FCEB-83379CE147A3}"/>
              </a:ext>
            </a:extLst>
          </p:cNvPr>
          <p:cNvSpPr txBox="1">
            <a:spLocks/>
          </p:cNvSpPr>
          <p:nvPr/>
        </p:nvSpPr>
        <p:spPr>
          <a:xfrm>
            <a:off x="6096000" y="1572568"/>
            <a:ext cx="3830370" cy="185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String (</a:t>
            </a:r>
            <a:r>
              <a:rPr lang="en-US" b="1" dirty="0" err="1"/>
              <a:t>Chuỗi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let name = "Nguyễn Văn A";</a:t>
            </a:r>
          </a:p>
          <a:p>
            <a:r>
              <a:rPr lang="en-US" dirty="0"/>
              <a:t>let message = 'Xin </a:t>
            </a:r>
            <a:r>
              <a:rPr lang="en-US" dirty="0" err="1"/>
              <a:t>chào</a:t>
            </a:r>
            <a:r>
              <a:rPr lang="en-US" dirty="0"/>
              <a:t>';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3E5E3E8-F21F-C1E8-0F74-0158C9FE69AD}"/>
              </a:ext>
            </a:extLst>
          </p:cNvPr>
          <p:cNvSpPr txBox="1">
            <a:spLocks/>
          </p:cNvSpPr>
          <p:nvPr/>
        </p:nvSpPr>
        <p:spPr>
          <a:xfrm>
            <a:off x="533401" y="3429000"/>
            <a:ext cx="3830370" cy="185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Boolean (</a:t>
            </a:r>
            <a:r>
              <a:rPr lang="en-US" b="1" dirty="0" err="1"/>
              <a:t>Đúng</a:t>
            </a:r>
            <a:r>
              <a:rPr lang="en-US" b="1" dirty="0"/>
              <a:t>/Sai)</a:t>
            </a:r>
            <a:endParaRPr lang="en-US" dirty="0"/>
          </a:p>
          <a:p>
            <a:r>
              <a:rPr lang="en-US" dirty="0"/>
              <a:t>let </a:t>
            </a:r>
            <a:r>
              <a:rPr lang="en-US" dirty="0" err="1"/>
              <a:t>isStudent</a:t>
            </a:r>
            <a:r>
              <a:rPr lang="en-US" dirty="0"/>
              <a:t> = true;</a:t>
            </a:r>
          </a:p>
          <a:p>
            <a:r>
              <a:rPr lang="en-US" dirty="0"/>
              <a:t>let </a:t>
            </a:r>
            <a:r>
              <a:rPr lang="en-US" dirty="0" err="1"/>
              <a:t>isLoggedIn</a:t>
            </a:r>
            <a:r>
              <a:rPr lang="en-US" dirty="0"/>
              <a:t> = false;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470973E-088D-420E-CE9F-4D7472CD80DA}"/>
              </a:ext>
            </a:extLst>
          </p:cNvPr>
          <p:cNvSpPr txBox="1">
            <a:spLocks/>
          </p:cNvSpPr>
          <p:nvPr/>
        </p:nvSpPr>
        <p:spPr>
          <a:xfrm>
            <a:off x="6096000" y="3429000"/>
            <a:ext cx="3830370" cy="18564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Undefined</a:t>
            </a:r>
            <a:endParaRPr lang="en-US" dirty="0"/>
          </a:p>
          <a:p>
            <a:r>
              <a:rPr lang="en-US" dirty="0"/>
              <a:t>let x;</a:t>
            </a:r>
          </a:p>
          <a:p>
            <a:r>
              <a:rPr lang="en-US" dirty="0"/>
              <a:t>console.log(x); // undefined</a:t>
            </a:r>
          </a:p>
          <a:p>
            <a:r>
              <a:rPr lang="en-US" dirty="0"/>
              <a:t>Nghĩa </a:t>
            </a:r>
            <a:r>
              <a:rPr lang="en-US" dirty="0" err="1"/>
              <a:t>là</a:t>
            </a:r>
            <a:r>
              <a:rPr lang="en-US" dirty="0"/>
              <a:t> x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(do JavaScript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687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BB37-E4EE-FAA0-F849-B69F8FDD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E3FD85-E060-9D0B-7642-F35B1793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Kiểu dữ liệu (Data Types)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EB0E0-CF3F-9EF8-984F-6BE6B84E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78A6EA-E2FD-B174-FD39-E84D368A4542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1" y="1572569"/>
            <a:ext cx="3830370" cy="1856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Null</a:t>
            </a:r>
            <a:endParaRPr lang="en-US" dirty="0"/>
          </a:p>
          <a:p>
            <a:r>
              <a:rPr lang="en-US" dirty="0"/>
              <a:t>let data = null;</a:t>
            </a:r>
          </a:p>
          <a:p>
            <a:r>
              <a:rPr lang="en-US" dirty="0"/>
              <a:t>Nghĩa </a:t>
            </a:r>
            <a:r>
              <a:rPr lang="en-US" dirty="0" err="1"/>
              <a:t>là</a:t>
            </a:r>
            <a:r>
              <a:rPr lang="en-US" dirty="0"/>
              <a:t> data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= null (do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)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ACF77FA-9D11-77AB-F977-249E9A667EBF}"/>
              </a:ext>
            </a:extLst>
          </p:cNvPr>
          <p:cNvSpPr txBox="1">
            <a:spLocks/>
          </p:cNvSpPr>
          <p:nvPr/>
        </p:nvSpPr>
        <p:spPr>
          <a:xfrm>
            <a:off x="533400" y="3429000"/>
            <a:ext cx="8166979" cy="270019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</a:t>
            </a:r>
            <a:r>
              <a:rPr lang="en-US" b="1" dirty="0" err="1"/>
              <a:t>cho</a:t>
            </a:r>
            <a:r>
              <a:rPr lang="en-US" b="1" dirty="0"/>
              <a:t> Undefined </a:t>
            </a:r>
            <a:r>
              <a:rPr lang="en-US" b="1" dirty="0" err="1"/>
              <a:t>và</a:t>
            </a:r>
            <a:r>
              <a:rPr lang="en-US" b="1" dirty="0"/>
              <a:t> Null</a:t>
            </a:r>
          </a:p>
          <a:p>
            <a:r>
              <a:rPr lang="en-US" dirty="0"/>
              <a:t>TH 1: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let score;</a:t>
            </a:r>
          </a:p>
          <a:p>
            <a:r>
              <a:rPr lang="en-US" dirty="0"/>
              <a:t>→ undefined =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 2: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/>
              <a:t>let score = 10;</a:t>
            </a:r>
          </a:p>
          <a:p>
            <a:r>
              <a:rPr lang="en-US" dirty="0"/>
              <a:t>score = null;</a:t>
            </a:r>
          </a:p>
          <a:p>
            <a:r>
              <a:rPr lang="en-US" dirty="0"/>
              <a:t>→ null =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3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1C91-920C-D1D1-C439-D8C40BBE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C58020-6CDB-0B59-1AA4-C29EBBCC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Kiểu dữ liệu (Data Types)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032B0-F39C-0CE5-9E87-E630E433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060536-1969-BA85-FA4A-6E3B79068C5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1" y="1572569"/>
            <a:ext cx="3830370" cy="1856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 (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tượng</a:t>
            </a:r>
            <a:r>
              <a:rPr lang="en-US" b="1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user = {</a:t>
            </a:r>
          </a:p>
          <a:p>
            <a:pPr marL="0" indent="0">
              <a:buNone/>
            </a:pPr>
            <a:r>
              <a:rPr lang="en-US" dirty="0"/>
              <a:t>	name: "An",</a:t>
            </a:r>
          </a:p>
          <a:p>
            <a:pPr marL="0" indent="0">
              <a:buNone/>
            </a:pPr>
            <a:r>
              <a:rPr lang="en-US" dirty="0"/>
              <a:t>	age: 20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8010D-5CAB-9B7D-9BCF-2F7079AFA063}"/>
              </a:ext>
            </a:extLst>
          </p:cNvPr>
          <p:cNvSpPr txBox="1">
            <a:spLocks/>
          </p:cNvSpPr>
          <p:nvPr/>
        </p:nvSpPr>
        <p:spPr>
          <a:xfrm>
            <a:off x="533400" y="3429000"/>
            <a:ext cx="4382631" cy="185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 Array (</a:t>
            </a:r>
            <a:r>
              <a:rPr lang="en-US" b="1" dirty="0" err="1"/>
              <a:t>Mảng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let numbers = [1, 2, 3, 4];</a:t>
            </a:r>
          </a:p>
          <a:p>
            <a:r>
              <a:rPr lang="en-US" dirty="0"/>
              <a:t>let fruits = ["Táo", "Cam", "</a:t>
            </a:r>
            <a:r>
              <a:rPr lang="en-US" dirty="0" err="1"/>
              <a:t>Chuối</a:t>
            </a:r>
            <a:r>
              <a:rPr lang="en-US" dirty="0"/>
              <a:t>"];</a:t>
            </a:r>
          </a:p>
        </p:txBody>
      </p:sp>
    </p:spTree>
    <p:extLst>
      <p:ext uri="{BB962C8B-B14F-4D97-AF65-F5344CB8AC3E}">
        <p14:creationId xmlns:p14="http://schemas.microsoft.com/office/powerpoint/2010/main" val="4172233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6EF2-6476-9384-EEAC-76D23073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1335E3-4CBC-55BC-9ECC-F4970D33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3. Kiểm tra kiểu dữ liệu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2D5412-AB6A-306B-96C4-8F838E420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49C2DF-364A-E6A3-CAA6-99532A48654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572569"/>
            <a:ext cx="4518433" cy="1856431"/>
          </a:xfrm>
        </p:spPr>
        <p:txBody>
          <a:bodyPr>
            <a:normAutofit/>
          </a:bodyPr>
          <a:lstStyle/>
          <a:p>
            <a:r>
              <a:rPr lang="en-US" dirty="0"/>
              <a:t>Cách </a:t>
            </a:r>
            <a:r>
              <a:rPr lang="en-US" dirty="0" err="1"/>
              <a:t>dùng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typeof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gì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name = "An";</a:t>
            </a:r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typeof</a:t>
            </a:r>
            <a:r>
              <a:rPr lang="en-US" dirty="0"/>
              <a:t> name); // string</a:t>
            </a:r>
          </a:p>
        </p:txBody>
      </p:sp>
    </p:spTree>
    <p:extLst>
      <p:ext uri="{BB962C8B-B14F-4D97-AF65-F5344CB8AC3E}">
        <p14:creationId xmlns:p14="http://schemas.microsoft.com/office/powerpoint/2010/main" val="295785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F371A-8C18-E209-1844-16C0D057E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3F67AF-7B0F-AC03-F24F-D7098C8AF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4. Tổng kết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8BE25-CFE9-EDA0-8F12-374E2C90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634D96-4839-E531-27AA-11984C06FA4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572569"/>
            <a:ext cx="4925840" cy="1856431"/>
          </a:xfrm>
        </p:spPr>
        <p:txBody>
          <a:bodyPr>
            <a:normAutofit/>
          </a:bodyPr>
          <a:lstStyle/>
          <a:p>
            <a:r>
              <a:rPr lang="en-US" dirty="0" err="1"/>
              <a:t>Biến</a:t>
            </a:r>
            <a:r>
              <a:rPr lang="en-US" dirty="0"/>
              <a:t>: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let/const)</a:t>
            </a:r>
          </a:p>
          <a:p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Number, String, </a:t>
            </a:r>
            <a:r>
              <a:rPr lang="en-US" dirty="0" err="1"/>
              <a:t>Boolea</a:t>
            </a:r>
            <a:r>
              <a:rPr lang="en-US" dirty="0"/>
              <a:t>,…</a:t>
            </a:r>
          </a:p>
          <a:p>
            <a:r>
              <a:rPr lang="en-US" dirty="0" err="1"/>
              <a:t>typeof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73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ECA3C-F09B-A7F4-659C-FE207F42D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155609-E483-BDFE-EF2F-D27391A9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5. Bài tập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C7DD37-9DC5-E92C-2943-FE412C77C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A59F3E-66B2-8AD9-C6A7-0FF91FC5D56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399" y="1572569"/>
            <a:ext cx="8157927" cy="3986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Tạo</a:t>
            </a:r>
            <a:r>
              <a:rPr lang="en-US" b="1" dirty="0"/>
              <a:t> profile </a:t>
            </a:r>
            <a:r>
              <a:rPr lang="en-US" b="1" dirty="0" err="1"/>
              <a:t>cá</a:t>
            </a:r>
            <a:r>
              <a:rPr lang="en-US" b="1" dirty="0"/>
              <a:t> </a:t>
            </a:r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tin:</a:t>
            </a:r>
          </a:p>
          <a:p>
            <a:pPr lvl="1"/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: string</a:t>
            </a:r>
          </a:p>
          <a:p>
            <a:pPr lvl="1"/>
            <a:r>
              <a:rPr lang="en-US" dirty="0" err="1"/>
              <a:t>Tuổi</a:t>
            </a:r>
            <a:r>
              <a:rPr lang="en-US" dirty="0"/>
              <a:t>: number (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(2026) -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), </a:t>
            </a:r>
            <a:r>
              <a:rPr lang="en-US" dirty="0" err="1"/>
              <a:t>không</a:t>
            </a:r>
            <a:r>
              <a:rPr lang="en-US" dirty="0"/>
              <a:t> hardcode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tuổi</a:t>
            </a:r>
            <a:endParaRPr lang="en-US" dirty="0"/>
          </a:p>
          <a:p>
            <a:pPr lvl="1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hay </a:t>
            </a:r>
            <a:r>
              <a:rPr lang="en-US" dirty="0" err="1"/>
              <a:t>không</a:t>
            </a:r>
            <a:r>
              <a:rPr lang="en-US" dirty="0"/>
              <a:t>: </a:t>
            </a:r>
            <a:r>
              <a:rPr lang="en-US" dirty="0" err="1"/>
              <a:t>boolean</a:t>
            </a:r>
            <a:endParaRPr lang="en-US" dirty="0"/>
          </a:p>
          <a:p>
            <a:pPr lvl="1"/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: </a:t>
            </a:r>
            <a:r>
              <a:rPr lang="en-US" dirty="0" err="1"/>
              <a:t>numder</a:t>
            </a:r>
            <a:r>
              <a:rPr lang="en-US" dirty="0"/>
              <a:t> + cm (</a:t>
            </a:r>
            <a:r>
              <a:rPr lang="en-US" dirty="0" err="1"/>
              <a:t>vd</a:t>
            </a:r>
            <a:r>
              <a:rPr lang="en-US" dirty="0"/>
              <a:t> 150cm)</a:t>
            </a:r>
          </a:p>
          <a:p>
            <a:pPr lvl="1"/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: string</a:t>
            </a:r>
          </a:p>
          <a:p>
            <a:pPr marL="0" indent="0">
              <a:buNone/>
            </a:pPr>
            <a:r>
              <a:rPr lang="en-US" b="1" dirty="0"/>
              <a:t>In </a:t>
            </a:r>
            <a:r>
              <a:rPr lang="en-US" b="1" dirty="0" err="1"/>
              <a:t>ra</a:t>
            </a:r>
            <a:r>
              <a:rPr lang="en-US" b="1" dirty="0"/>
              <a:t> </a:t>
            </a:r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trên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Nâng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: </a:t>
            </a:r>
            <a:r>
              <a:rPr lang="en-US" dirty="0" err="1"/>
              <a:t>tạo</a:t>
            </a:r>
            <a:r>
              <a:rPr lang="en-US" dirty="0"/>
              <a:t> object profile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trên</a:t>
            </a:r>
            <a:r>
              <a:rPr lang="en-US" dirty="0"/>
              <a:t>, in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từ</a:t>
            </a:r>
            <a:r>
              <a:rPr lang="en-US" dirty="0"/>
              <a:t> object profile</a:t>
            </a:r>
          </a:p>
        </p:txBody>
      </p:sp>
    </p:spTree>
    <p:extLst>
      <p:ext uri="{BB962C8B-B14F-4D97-AF65-F5344CB8AC3E}">
        <p14:creationId xmlns:p14="http://schemas.microsoft.com/office/powerpoint/2010/main" val="222634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5B80-6041-D853-17DB-AEB6BD8D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9E225-D4D7-2E46-9F88-03A6CD98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55470"/>
            <a:ext cx="10376085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Bài 3: Toán tử và so sánh, </a:t>
            </a:r>
            <a:br>
              <a:rPr lang="en-US" dirty="0"/>
            </a:br>
            <a:r>
              <a:rPr lang="en-US" dirty="0"/>
              <a:t>Câu điều kiện, If/else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2B7C6-D91F-A516-5DA9-47B72957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5637BD-4E7F-5942-DD4D-70E2910258C7}"/>
              </a:ext>
            </a:extLst>
          </p:cNvPr>
          <p:cNvSpPr txBox="1">
            <a:spLocks/>
          </p:cNvSpPr>
          <p:nvPr/>
        </p:nvSpPr>
        <p:spPr>
          <a:xfrm>
            <a:off x="533400" y="2037030"/>
            <a:ext cx="11125200" cy="4155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lang="en-US" sz="1600" kern="12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/>
              <a:t>Mục</a:t>
            </a:r>
            <a:r>
              <a:rPr lang="en-US" sz="2400" b="1" dirty="0"/>
              <a:t> </a:t>
            </a:r>
            <a:r>
              <a:rPr lang="en-US" sz="2400" b="1" dirty="0" err="1"/>
              <a:t>tiêu</a:t>
            </a:r>
            <a:endParaRPr lang="en-US" sz="2400" b="1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Biết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so </a:t>
            </a:r>
            <a:r>
              <a:rPr lang="en-US" dirty="0" err="1"/>
              <a:t>sánh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== </a:t>
            </a:r>
            <a:r>
              <a:rPr lang="en-US" dirty="0" err="1"/>
              <a:t>và</a:t>
            </a:r>
            <a:r>
              <a:rPr lang="en-US" dirty="0"/>
              <a:t> ===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Biết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logic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if/else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3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9B0AB-D98B-FE8F-612B-30AA9F991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896AF-2374-7C0C-2B65-A8358CC35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Toán tử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81813-6AC9-45B2-85D1-3FF42CFA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FEB625-4DA2-6EBA-ABF5-790C85B6BE40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078456"/>
            <a:ext cx="8157927" cy="446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1.1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:</a:t>
            </a:r>
            <a:r>
              <a:rPr lang="en-US" dirty="0"/>
              <a:t> +, -, *, /, 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0EBCF9-51CC-D92C-7C80-62762DDCB827}"/>
              </a:ext>
            </a:extLst>
          </p:cNvPr>
          <p:cNvSpPr txBox="1">
            <a:spLocks/>
          </p:cNvSpPr>
          <p:nvPr/>
        </p:nvSpPr>
        <p:spPr>
          <a:xfrm>
            <a:off x="533399" y="1683528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Dùng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hiện</a:t>
            </a:r>
            <a:r>
              <a:rPr lang="en-US" b="1" dirty="0"/>
              <a:t> </a:t>
            </a:r>
            <a:r>
              <a:rPr lang="en-US" b="1" dirty="0" err="1"/>
              <a:t>phép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let a = 10;</a:t>
            </a:r>
          </a:p>
          <a:p>
            <a:pPr marL="0" indent="0">
              <a:buNone/>
            </a:pPr>
            <a:r>
              <a:rPr lang="en-US" dirty="0"/>
              <a:t>let b = 5;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console.log(a + b); // 15</a:t>
            </a:r>
          </a:p>
          <a:p>
            <a:pPr marL="0" indent="0">
              <a:buNone/>
            </a:pPr>
            <a:r>
              <a:rPr lang="en-US" dirty="0"/>
              <a:t>console.log(a - b); // 5</a:t>
            </a:r>
          </a:p>
          <a:p>
            <a:pPr marL="0" indent="0">
              <a:buNone/>
            </a:pPr>
            <a:r>
              <a:rPr lang="en-US" dirty="0"/>
              <a:t>console.log(a * b); // 50</a:t>
            </a:r>
          </a:p>
          <a:p>
            <a:pPr marL="0" indent="0">
              <a:buNone/>
            </a:pPr>
            <a:r>
              <a:rPr lang="en-US" dirty="0"/>
              <a:t>console.log(a / b); // 2</a:t>
            </a:r>
          </a:p>
          <a:p>
            <a:pPr marL="0" indent="0">
              <a:buNone/>
            </a:pPr>
            <a:r>
              <a:rPr lang="en-US" dirty="0"/>
              <a:t>console.log(a % b); // 0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30054D2-7CE7-8493-D266-F809D70ABA37}"/>
              </a:ext>
            </a:extLst>
          </p:cNvPr>
          <p:cNvSpPr txBox="1">
            <a:spLocks/>
          </p:cNvSpPr>
          <p:nvPr/>
        </p:nvSpPr>
        <p:spPr>
          <a:xfrm>
            <a:off x="6132214" y="1359782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% (chia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dư</a:t>
            </a:r>
            <a:r>
              <a:rPr lang="en-US" dirty="0"/>
              <a:t>), 2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/</a:t>
            </a:r>
            <a:r>
              <a:rPr lang="en-US" dirty="0" err="1"/>
              <a:t>lẻ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num = 7;</a:t>
            </a:r>
          </a:p>
          <a:p>
            <a:pPr marL="0" indent="0">
              <a:buNone/>
            </a:pPr>
            <a:r>
              <a:rPr lang="en-US" dirty="0"/>
              <a:t>if (num % 2 === 0) {</a:t>
            </a:r>
          </a:p>
          <a:p>
            <a:pPr marL="0" indent="0">
              <a:buNone/>
            </a:pPr>
            <a:r>
              <a:rPr lang="en-US" dirty="0"/>
              <a:t>     console.log("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chẵn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     console.log("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Quy </a:t>
            </a:r>
            <a:r>
              <a:rPr lang="en-US" dirty="0" err="1"/>
              <a:t>tắc</a:t>
            </a:r>
            <a:r>
              <a:rPr lang="en-US" dirty="0"/>
              <a:t>:</a:t>
            </a:r>
          </a:p>
          <a:p>
            <a:r>
              <a:rPr lang="en-US" dirty="0"/>
              <a:t>% 2 === 0 → </a:t>
            </a:r>
            <a:r>
              <a:rPr lang="en-US" dirty="0" err="1"/>
              <a:t>chẵn</a:t>
            </a:r>
            <a:endParaRPr lang="en-US" dirty="0"/>
          </a:p>
          <a:p>
            <a:r>
              <a:rPr lang="en-US" dirty="0"/>
              <a:t>% 2 !== 0 → </a:t>
            </a:r>
            <a:r>
              <a:rPr lang="en-US" dirty="0" err="1"/>
              <a:t>lẻ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chu </a:t>
            </a:r>
            <a:r>
              <a:rPr lang="en-US" dirty="0" err="1"/>
              <a:t>kỳ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if (</a:t>
            </a:r>
            <a:r>
              <a:rPr lang="en-US" dirty="0" err="1"/>
              <a:t>i</a:t>
            </a:r>
            <a:r>
              <a:rPr lang="en-US" dirty="0"/>
              <a:t> % 3 === 0) {</a:t>
            </a:r>
          </a:p>
          <a:p>
            <a:pPr marL="0" indent="0">
              <a:buNone/>
            </a:pPr>
            <a:r>
              <a:rPr lang="en-US" dirty="0"/>
              <a:t>        console.log(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In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chia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271506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22DD-C486-9776-9617-AE808538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0EACD2-01F5-A597-A0A5-AD178414F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Toán tử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D81E62-D59F-1846-C716-72B2F439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3782003-E9FB-1098-D43B-1AE29B72EBCD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078456"/>
            <a:ext cx="8157927" cy="446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1.2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chuỗi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D725735-DFE5-7ED3-0247-79E23B991F6C}"/>
              </a:ext>
            </a:extLst>
          </p:cNvPr>
          <p:cNvSpPr txBox="1">
            <a:spLocks/>
          </p:cNvSpPr>
          <p:nvPr/>
        </p:nvSpPr>
        <p:spPr>
          <a:xfrm>
            <a:off x="533399" y="1683528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let name = "An";</a:t>
            </a:r>
          </a:p>
          <a:p>
            <a:pPr marL="0" indent="0">
              <a:buNone/>
            </a:pPr>
            <a:r>
              <a:rPr lang="en-US" dirty="0"/>
              <a:t>console.log("Hello " + name); // Hello An</a:t>
            </a:r>
          </a:p>
          <a:p>
            <a:pPr marL="0" indent="0">
              <a:buNone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string</a:t>
            </a:r>
          </a:p>
          <a:p>
            <a:pPr marL="0" indent="0">
              <a:buNone/>
            </a:pPr>
            <a:r>
              <a:rPr lang="en-US" dirty="0"/>
              <a:t>VD: console.log("5" + 5); // 55</a:t>
            </a:r>
          </a:p>
        </p:txBody>
      </p:sp>
    </p:spTree>
    <p:extLst>
      <p:ext uri="{BB962C8B-B14F-4D97-AF65-F5344CB8AC3E}">
        <p14:creationId xmlns:p14="http://schemas.microsoft.com/office/powerpoint/2010/main" val="3989759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AB8F2-C63A-E0AA-D5DF-67F180560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51D82F-2B25-520C-0272-C23E9257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Toán tử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38DF04-C574-B155-9EEA-6E0CE508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185FE2-1735-8CAE-0AD5-C1DF31F479E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078456"/>
            <a:ext cx="8157927" cy="446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1.3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gán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B8CC947-5C27-C330-826C-8DC1A2DB4AED}"/>
              </a:ext>
            </a:extLst>
          </p:cNvPr>
          <p:cNvSpPr txBox="1">
            <a:spLocks/>
          </p:cNvSpPr>
          <p:nvPr/>
        </p:nvSpPr>
        <p:spPr>
          <a:xfrm>
            <a:off x="533399" y="1683528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let x = 10;</a:t>
            </a:r>
          </a:p>
          <a:p>
            <a:pPr marL="0" indent="0">
              <a:buNone/>
            </a:pPr>
            <a:r>
              <a:rPr lang="en-US" dirty="0"/>
              <a:t>x += 5; // x = x + 5</a:t>
            </a:r>
          </a:p>
          <a:p>
            <a:pPr marL="0" indent="0">
              <a:buNone/>
            </a:pPr>
            <a:r>
              <a:rPr lang="en-US" dirty="0"/>
              <a:t>x -= 2;</a:t>
            </a:r>
          </a:p>
          <a:p>
            <a:pPr marL="0" indent="0">
              <a:buNone/>
            </a:pPr>
            <a:r>
              <a:rPr lang="en-US" dirty="0"/>
              <a:t>x *= 3;</a:t>
            </a:r>
          </a:p>
        </p:txBody>
      </p:sp>
    </p:spTree>
    <p:extLst>
      <p:ext uri="{BB962C8B-B14F-4D97-AF65-F5344CB8AC3E}">
        <p14:creationId xmlns:p14="http://schemas.microsoft.com/office/powerpoint/2010/main" val="168779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E6F7-40CC-CAFC-D6EF-7C44388BF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4F820B-FDC3-38F3-063E-BA550320E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1. Toán tử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EF0242-0DD8-EE5F-9360-BE3337F5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FA84CB-F10E-04EE-26D1-B7BEB236FBFD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33400" y="1078456"/>
            <a:ext cx="8157927" cy="446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1.4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tăng</a:t>
            </a:r>
            <a:r>
              <a:rPr lang="en-US" b="1" dirty="0"/>
              <a:t>/</a:t>
            </a:r>
            <a:r>
              <a:rPr lang="en-US" b="1" dirty="0" err="1"/>
              <a:t>giảm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D88DD23-4E6D-5379-B4D2-C3CB1A289735}"/>
              </a:ext>
            </a:extLst>
          </p:cNvPr>
          <p:cNvSpPr txBox="1">
            <a:spLocks/>
          </p:cNvSpPr>
          <p:nvPr/>
        </p:nvSpPr>
        <p:spPr>
          <a:xfrm>
            <a:off x="533399" y="1683528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i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++; // </a:t>
            </a:r>
            <a:r>
              <a:rPr lang="en-US" dirty="0" err="1"/>
              <a:t>tăng</a:t>
            </a:r>
            <a:r>
              <a:rPr lang="en-US" dirty="0"/>
              <a:t> 1</a:t>
            </a:r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--; // </a:t>
            </a:r>
            <a:r>
              <a:rPr lang="en-US" dirty="0" err="1"/>
              <a:t>giảm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59531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EEF99-0815-38E3-A4F3-86D7C0C5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1940C0-B952-8335-759C-E6C5A4C9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2. Toán tử so sánh (Comparison Operators)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E75496-5E07-1C18-739D-1EDD2E231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4DFC6D6-9152-597D-599E-0DB7D370A0FB}"/>
              </a:ext>
            </a:extLst>
          </p:cNvPr>
          <p:cNvSpPr txBox="1">
            <a:spLocks/>
          </p:cNvSpPr>
          <p:nvPr/>
        </p:nvSpPr>
        <p:spPr>
          <a:xfrm>
            <a:off x="533400" y="1374343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Cách </a:t>
            </a:r>
            <a:r>
              <a:rPr lang="en-US" dirty="0" err="1"/>
              <a:t>dùng</a:t>
            </a:r>
            <a:r>
              <a:rPr lang="en-US" dirty="0"/>
              <a:t>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2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→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true </a:t>
            </a:r>
            <a:r>
              <a:rPr lang="en-US" dirty="0" err="1"/>
              <a:t>hoặc</a:t>
            </a:r>
            <a:r>
              <a:rPr lang="en-US" dirty="0"/>
              <a:t> false</a:t>
            </a:r>
          </a:p>
          <a:p>
            <a:pPr marL="0" indent="0">
              <a:buNone/>
            </a:pPr>
            <a:r>
              <a:rPr lang="en-US" dirty="0"/>
              <a:t>let a = 10;</a:t>
            </a:r>
          </a:p>
          <a:p>
            <a:pPr marL="0" indent="0">
              <a:buNone/>
            </a:pPr>
            <a:r>
              <a:rPr lang="en-US" dirty="0"/>
              <a:t>let b = "10";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console.log(a == b);  // true (so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console.log(a === b); // false (so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console.log(a != b);  // false</a:t>
            </a:r>
          </a:p>
          <a:p>
            <a:pPr marL="0" indent="0">
              <a:buNone/>
            </a:pPr>
            <a:r>
              <a:rPr lang="en-US" dirty="0"/>
              <a:t>console.log(a !== b); // true</a:t>
            </a:r>
          </a:p>
          <a:p>
            <a:pPr marL="0" indent="0">
              <a:buNone/>
            </a:pPr>
            <a:r>
              <a:rPr lang="en-US" dirty="0"/>
              <a:t>console.log(a &gt; 5);   // true</a:t>
            </a:r>
          </a:p>
          <a:p>
            <a:pPr marL="0" indent="0">
              <a:buNone/>
            </a:pPr>
            <a:r>
              <a:rPr lang="en-US" dirty="0"/>
              <a:t>console.log(a &lt; 5);   // false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Lưu ý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== → </a:t>
            </a:r>
            <a:r>
              <a:rPr lang="en-US" dirty="0" err="1"/>
              <a:t>chỉ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=== →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625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F6B6-F862-E58F-B76A-D559159E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4EE203-D21D-F36E-CF62-D1ECD6615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dirty="0"/>
              <a:t>3. Toán tử logic (Logical Operators): </a:t>
            </a:r>
            <a:br>
              <a:rPr lang="en-US" dirty="0"/>
            </a:br>
            <a:r>
              <a:rPr lang="en-US" dirty="0"/>
              <a:t>&amp;&amp; (AND), || (OR), ! (NOT)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F52CD-DC77-5F0B-9649-7CBAAAAF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6240B63-E9A2-A4A4-8094-9CAFABC0512E}"/>
              </a:ext>
            </a:extLst>
          </p:cNvPr>
          <p:cNvSpPr txBox="1">
            <a:spLocks/>
          </p:cNvSpPr>
          <p:nvPr/>
        </p:nvSpPr>
        <p:spPr>
          <a:xfrm>
            <a:off x="488949" y="1521654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let a = true;</a:t>
            </a:r>
          </a:p>
          <a:p>
            <a:pPr marL="0" indent="0">
              <a:buNone/>
            </a:pPr>
            <a:r>
              <a:rPr lang="en-US" dirty="0"/>
              <a:t>let b = false;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console.log(a &amp;&amp; b); // AND → false</a:t>
            </a:r>
          </a:p>
          <a:p>
            <a:pPr marL="0" indent="0">
              <a:buNone/>
            </a:pPr>
            <a:r>
              <a:rPr lang="en-US" dirty="0"/>
              <a:t>console.log(a || b); // OR → true</a:t>
            </a:r>
          </a:p>
          <a:p>
            <a:pPr marL="0" indent="0">
              <a:buNone/>
            </a:pPr>
            <a:r>
              <a:rPr lang="en-US" dirty="0"/>
              <a:t>console.log(!a);     // NOT → 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67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56323-BB6C-79D7-ED54-E8E04BF1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406321-B07A-23DD-EAA3-D246B479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4. Câu điều kiện if/else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6C7987-A1F0-A88C-203D-303B1510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85110CF-4BCC-050B-A366-6F944C3DA222}"/>
              </a:ext>
            </a:extLst>
          </p:cNvPr>
          <p:cNvSpPr txBox="1">
            <a:spLocks/>
          </p:cNvSpPr>
          <p:nvPr/>
        </p:nvSpPr>
        <p:spPr>
          <a:xfrm>
            <a:off x="488949" y="1521654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Cách </a:t>
            </a:r>
            <a:r>
              <a:rPr lang="en-US" dirty="0" err="1"/>
              <a:t>dùng</a:t>
            </a:r>
            <a:r>
              <a:rPr lang="en-US" dirty="0"/>
              <a:t>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/</a:t>
            </a:r>
            <a:r>
              <a:rPr lang="en-US" dirty="0" err="1"/>
              <a:t>sai</a:t>
            </a:r>
            <a:endParaRPr lang="en-US" dirty="0"/>
          </a:p>
          <a:p>
            <a:r>
              <a:rPr lang="en-US" b="1" dirty="0" err="1"/>
              <a:t>cú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điều_kiện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// code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đúng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   // code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sai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44D9082-2C12-D59D-937A-2DD02453690E}"/>
              </a:ext>
            </a:extLst>
          </p:cNvPr>
          <p:cNvSpPr txBox="1">
            <a:spLocks/>
          </p:cNvSpPr>
          <p:nvPr/>
        </p:nvSpPr>
        <p:spPr>
          <a:xfrm>
            <a:off x="6095999" y="1356237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let age = 18;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if (age &gt;= 18) {</a:t>
            </a:r>
          </a:p>
          <a:p>
            <a:pPr marL="0" indent="0">
              <a:buNone/>
            </a:pPr>
            <a:r>
              <a:rPr lang="en-US" dirty="0"/>
              <a:t>  console.log("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18 </a:t>
            </a:r>
            <a:r>
              <a:rPr lang="en-US" dirty="0" err="1"/>
              <a:t>tuổi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  console.log("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18 </a:t>
            </a:r>
            <a:r>
              <a:rPr lang="en-US" dirty="0" err="1"/>
              <a:t>tuổi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5319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8B3B-9E4E-537A-F459-3742015FA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B9D6AF-A0AD-1F3A-818C-9095F59E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4. Câu điều kiện if/else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667A46-7E55-D752-0D8F-5E73E5E4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6662B70-BF50-8396-B511-44A3711DFB97}"/>
              </a:ext>
            </a:extLst>
          </p:cNvPr>
          <p:cNvSpPr txBox="1">
            <a:spLocks/>
          </p:cNvSpPr>
          <p:nvPr/>
        </p:nvSpPr>
        <p:spPr>
          <a:xfrm>
            <a:off x="488949" y="1521654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Câu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</a:t>
            </a:r>
            <a:r>
              <a:rPr lang="en-US" b="1" dirty="0" err="1"/>
              <a:t>rộng</a:t>
            </a:r>
            <a:r>
              <a:rPr lang="en-US" b="1" dirty="0"/>
              <a:t> else 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điều_kiện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  // code</a:t>
            </a:r>
          </a:p>
          <a:p>
            <a:pPr marL="0" indent="0">
              <a:buNone/>
            </a:pPr>
            <a:r>
              <a:rPr lang="en-US" dirty="0"/>
              <a:t>} else if (</a:t>
            </a:r>
            <a:r>
              <a:rPr lang="en-US" dirty="0" err="1"/>
              <a:t>điều_kiện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// code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  //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if/else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lồng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83CE432-5317-14F1-C6BC-2B21D8061E4A}"/>
              </a:ext>
            </a:extLst>
          </p:cNvPr>
          <p:cNvSpPr txBox="1">
            <a:spLocks/>
          </p:cNvSpPr>
          <p:nvPr/>
        </p:nvSpPr>
        <p:spPr>
          <a:xfrm>
            <a:off x="6095999" y="1356237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score = 8;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if (score &gt;= 9) {</a:t>
            </a:r>
          </a:p>
          <a:p>
            <a:pPr marL="0" indent="0">
              <a:buNone/>
            </a:pPr>
            <a:r>
              <a:rPr lang="en-US" dirty="0"/>
              <a:t>  console.log("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sắc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 else if (score &gt;= 7) {</a:t>
            </a:r>
          </a:p>
          <a:p>
            <a:pPr marL="0" indent="0">
              <a:buNone/>
            </a:pPr>
            <a:r>
              <a:rPr lang="en-US" dirty="0"/>
              <a:t>  console.log("</a:t>
            </a:r>
            <a:r>
              <a:rPr lang="en-US" dirty="0" err="1"/>
              <a:t>Khá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  console.log("Trung </a:t>
            </a:r>
            <a:r>
              <a:rPr lang="en-US" dirty="0" err="1"/>
              <a:t>bình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80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0FD5-CAD2-7FC3-4D81-682F90B6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EE29CE-8A6F-E8A8-9EE1-F5F8D109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5. Tổng kết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2719DF-E661-D53F-E554-D8F8766D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BDF632-8001-3667-128D-F426FA53E839}"/>
              </a:ext>
            </a:extLst>
          </p:cNvPr>
          <p:cNvSpPr txBox="1">
            <a:spLocks/>
          </p:cNvSpPr>
          <p:nvPr/>
        </p:nvSpPr>
        <p:spPr>
          <a:xfrm>
            <a:off x="488949" y="1521654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: +, -, *, /, % </a:t>
            </a:r>
          </a:p>
          <a:p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: == vs === </a:t>
            </a:r>
          </a:p>
          <a:p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logic: &amp;&amp;, ||, ! </a:t>
            </a:r>
          </a:p>
          <a:p>
            <a:r>
              <a:rPr lang="en-US" dirty="0"/>
              <a:t>Câu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: if / else / else if </a:t>
            </a:r>
          </a:p>
        </p:txBody>
      </p:sp>
    </p:spTree>
    <p:extLst>
      <p:ext uri="{BB962C8B-B14F-4D97-AF65-F5344CB8AC3E}">
        <p14:creationId xmlns:p14="http://schemas.microsoft.com/office/powerpoint/2010/main" val="231677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BF15-2335-B59A-35BF-F6172D4D4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89EF4-D4A2-22B6-39F2-0B572A30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6. Bài tập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3C040-67F8-6043-6302-A61ACACF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82F9330-EB29-9576-9E07-AE3587E43726}"/>
              </a:ext>
            </a:extLst>
          </p:cNvPr>
          <p:cNvSpPr txBox="1">
            <a:spLocks/>
          </p:cNvSpPr>
          <p:nvPr/>
        </p:nvSpPr>
        <p:spPr>
          <a:xfrm>
            <a:off x="488949" y="1521654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Tạo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:</a:t>
            </a:r>
          </a:p>
          <a:p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(string), </a:t>
            </a:r>
          </a:p>
          <a:p>
            <a:r>
              <a:rPr lang="en-US" dirty="0" err="1"/>
              <a:t>Tuổi</a:t>
            </a:r>
            <a:r>
              <a:rPr lang="en-US" dirty="0"/>
              <a:t> (number,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tuổi</a:t>
            </a:r>
            <a:r>
              <a:rPr lang="en-US" dirty="0"/>
              <a:t> =(2026 -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)</a:t>
            </a:r>
          </a:p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(number) 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automation hay </a:t>
            </a:r>
            <a:r>
              <a:rPr lang="en-US" dirty="0" err="1"/>
              <a:t>không</a:t>
            </a:r>
            <a:r>
              <a:rPr lang="en-US" dirty="0"/>
              <a:t> (</a:t>
            </a:r>
            <a:r>
              <a:rPr lang="en-US" dirty="0" err="1"/>
              <a:t>boolean</a:t>
            </a:r>
            <a:r>
              <a:rPr lang="en-US" dirty="0"/>
              <a:t>) 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C413FCC-1A05-B451-CD8B-61C3BC1FC2A8}"/>
              </a:ext>
            </a:extLst>
          </p:cNvPr>
          <p:cNvSpPr txBox="1">
            <a:spLocks/>
          </p:cNvSpPr>
          <p:nvPr/>
        </p:nvSpPr>
        <p:spPr>
          <a:xfrm>
            <a:off x="6245444" y="1437718"/>
            <a:ext cx="5562601" cy="45180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/>
              <a:t>Yêu</a:t>
            </a:r>
            <a:r>
              <a:rPr lang="en-US" b="1" dirty="0"/>
              <a:t>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&lt; 1 </a:t>
            </a:r>
            <a:r>
              <a:rPr lang="en-US" dirty="0" err="1"/>
              <a:t>năm</a:t>
            </a:r>
            <a:r>
              <a:rPr lang="en-US" dirty="0"/>
              <a:t> → "Fresher"</a:t>
            </a:r>
          </a:p>
          <a:p>
            <a:pPr lvl="1"/>
            <a:r>
              <a:rPr lang="en-US" dirty="0"/>
              <a:t>1–3 </a:t>
            </a:r>
            <a:r>
              <a:rPr lang="en-US" dirty="0" err="1"/>
              <a:t>năm</a:t>
            </a:r>
            <a:r>
              <a:rPr lang="en-US" dirty="0"/>
              <a:t> → "Junior QA"</a:t>
            </a:r>
          </a:p>
          <a:p>
            <a:pPr lvl="1"/>
            <a:r>
              <a:rPr lang="en-US" dirty="0"/>
              <a:t>3–5 </a:t>
            </a:r>
            <a:r>
              <a:rPr lang="en-US" dirty="0" err="1"/>
              <a:t>năm</a:t>
            </a:r>
            <a:r>
              <a:rPr lang="en-US" dirty="0"/>
              <a:t> → "Middle QA"</a:t>
            </a:r>
          </a:p>
          <a:p>
            <a:pPr lvl="1"/>
            <a:r>
              <a:rPr lang="en-US" dirty="0"/>
              <a:t>&gt;5 </a:t>
            </a:r>
            <a:r>
              <a:rPr lang="en-US" dirty="0" err="1"/>
              <a:t>năm</a:t>
            </a:r>
            <a:r>
              <a:rPr lang="en-US" dirty="0"/>
              <a:t> → "Senior QA"</a:t>
            </a:r>
          </a:p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Senior Automation QA </a:t>
            </a:r>
          </a:p>
          <a:p>
            <a:pPr lvl="1"/>
            <a:r>
              <a:rPr lang="en-US" dirty="0"/>
              <a:t>Kinh </a:t>
            </a:r>
            <a:r>
              <a:rPr lang="en-US" dirty="0" err="1"/>
              <a:t>nghiệm</a:t>
            </a:r>
            <a:r>
              <a:rPr lang="en-US" dirty="0"/>
              <a:t> ≥ 3 </a:t>
            </a:r>
            <a:r>
              <a:rPr lang="en-US" dirty="0" err="1"/>
              <a:t>năm</a:t>
            </a:r>
            <a:endParaRPr lang="en-US" dirty="0"/>
          </a:p>
          <a:p>
            <a:pPr lvl="1"/>
            <a:r>
              <a:rPr lang="en-US" dirty="0" err="1"/>
              <a:t>Biết</a:t>
            </a:r>
            <a:r>
              <a:rPr lang="en-US" dirty="0"/>
              <a:t> automation = true</a:t>
            </a:r>
          </a:p>
          <a:p>
            <a:pPr lvl="1"/>
            <a:r>
              <a:rPr lang="en-US" dirty="0" err="1"/>
              <a:t>Tuổi</a:t>
            </a:r>
            <a:r>
              <a:rPr lang="en-US" dirty="0"/>
              <a:t> ≤ 35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→ "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Senior Automation QA"</a:t>
            </a:r>
          </a:p>
          <a:p>
            <a:r>
              <a:rPr lang="en-US" dirty="0"/>
              <a:t>Ngược </a:t>
            </a:r>
            <a:r>
              <a:rPr lang="en-US" dirty="0" err="1"/>
              <a:t>lại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→ "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“</a:t>
            </a:r>
          </a:p>
          <a:p>
            <a:r>
              <a:rPr lang="en-US" dirty="0"/>
              <a:t>In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</p:txBody>
      </p:sp>
    </p:spTree>
    <p:extLst>
      <p:ext uri="{BB962C8B-B14F-4D97-AF65-F5344CB8AC3E}">
        <p14:creationId xmlns:p14="http://schemas.microsoft.com/office/powerpoint/2010/main" val="55738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219A-B45A-963C-C543-FA84987B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4F0438-1927-0BB1-ADD6-01EB88B8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533400"/>
            <a:ext cx="9103006" cy="859055"/>
          </a:xfrm>
        </p:spPr>
        <p:txBody>
          <a:bodyPr>
            <a:normAutofit/>
          </a:bodyPr>
          <a:lstStyle/>
          <a:p>
            <a:r>
              <a:rPr lang="en-US" dirty="0"/>
              <a:t>Bài tập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1B59F-B45C-BD67-E6F4-8DFB1D04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3B9CBC-429E-7081-349E-A591E0923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412373"/>
            <a:ext cx="7497024" cy="5142336"/>
          </a:xfrm>
        </p:spPr>
        <p:txBody>
          <a:bodyPr>
            <a:normAutofit fontScale="70000" lnSpcReduction="20000"/>
          </a:bodyPr>
          <a:lstStyle/>
          <a:p>
            <a:r>
              <a:rPr lang="vi-VN" dirty="0">
                <a:solidFill>
                  <a:schemeClr val="bg1"/>
                </a:solidFill>
              </a:rPr>
              <a:t>obj như sau:</a:t>
            </a:r>
          </a:p>
          <a:p>
            <a:r>
              <a:rPr lang="vi-VN" dirty="0">
                <a:solidFill>
                  <a:schemeClr val="bg1"/>
                </a:solidFill>
              </a:rPr>
              <a:t>let student = {</a:t>
            </a:r>
          </a:p>
          <a:p>
            <a:r>
              <a:rPr lang="vi-VN" dirty="0">
                <a:solidFill>
                  <a:schemeClr val="bg1"/>
                </a:solidFill>
              </a:rPr>
              <a:t>  info: {</a:t>
            </a:r>
          </a:p>
          <a:p>
            <a:r>
              <a:rPr lang="vi-VN" dirty="0">
                <a:solidFill>
                  <a:schemeClr val="bg1"/>
                </a:solidFill>
              </a:rPr>
              <a:t>    name: "Trần Thị B",</a:t>
            </a:r>
          </a:p>
          <a:p>
            <a:r>
              <a:rPr lang="vi-VN" dirty="0">
                <a:solidFill>
                  <a:schemeClr val="bg1"/>
                </a:solidFill>
              </a:rPr>
              <a:t>    age: 19,</a:t>
            </a:r>
          </a:p>
          <a:p>
            <a:r>
              <a:rPr lang="vi-VN" dirty="0">
                <a:solidFill>
                  <a:schemeClr val="bg1"/>
                </a:solidFill>
              </a:rPr>
              <a:t>    class: "12A1",</a:t>
            </a:r>
          </a:p>
          <a:p>
            <a:r>
              <a:rPr lang="vi-VN" dirty="0">
                <a:solidFill>
                  <a:schemeClr val="bg1"/>
                </a:solidFill>
              </a:rPr>
              <a:t>  },</a:t>
            </a:r>
          </a:p>
          <a:p>
            <a:r>
              <a:rPr lang="vi-VN" dirty="0">
                <a:solidFill>
                  <a:schemeClr val="bg1"/>
                </a:solidFill>
              </a:rPr>
              <a:t>  scores: {</a:t>
            </a:r>
          </a:p>
          <a:p>
            <a:r>
              <a:rPr lang="vi-VN" dirty="0">
                <a:solidFill>
                  <a:schemeClr val="bg1"/>
                </a:solidFill>
              </a:rPr>
              <a:t>    math: 9,</a:t>
            </a:r>
          </a:p>
          <a:p>
            <a:r>
              <a:rPr lang="vi-VN" dirty="0">
                <a:solidFill>
                  <a:schemeClr val="bg1"/>
                </a:solidFill>
              </a:rPr>
              <a:t>    physics: 7.5,</a:t>
            </a:r>
          </a:p>
          <a:p>
            <a:r>
              <a:rPr lang="vi-VN" dirty="0">
                <a:solidFill>
                  <a:schemeClr val="bg1"/>
                </a:solidFill>
              </a:rPr>
              <a:t>    chemistry: 4,</a:t>
            </a:r>
          </a:p>
          <a:p>
            <a:r>
              <a:rPr lang="vi-VN" dirty="0">
                <a:solidFill>
                  <a:schemeClr val="bg1"/>
                </a:solidFill>
              </a:rPr>
              <a:t>  },</a:t>
            </a:r>
          </a:p>
          <a:p>
            <a:r>
              <a:rPr lang="vi-VN" dirty="0">
                <a:solidFill>
                  <a:schemeClr val="bg1"/>
                </a:solidFill>
              </a:rPr>
              <a:t>  attendance: {</a:t>
            </a:r>
          </a:p>
          <a:p>
            <a:r>
              <a:rPr lang="vi-VN" dirty="0">
                <a:solidFill>
                  <a:schemeClr val="bg1"/>
                </a:solidFill>
              </a:rPr>
              <a:t>    totalDays: 180,</a:t>
            </a:r>
          </a:p>
          <a:p>
            <a:r>
              <a:rPr lang="vi-VN" dirty="0">
                <a:solidFill>
                  <a:schemeClr val="bg1"/>
                </a:solidFill>
              </a:rPr>
              <a:t>    absentDays: 12, // ngày vắng mặt</a:t>
            </a:r>
          </a:p>
          <a:p>
            <a:r>
              <a:rPr lang="vi-VN" dirty="0">
                <a:solidFill>
                  <a:schemeClr val="bg1"/>
                </a:solidFill>
              </a:rPr>
              <a:t>  },</a:t>
            </a:r>
          </a:p>
          <a:p>
            <a:r>
              <a:rPr lang="vi-VN" dirty="0">
                <a:solidFill>
                  <a:schemeClr val="bg1"/>
                </a:solidFill>
              </a:rPr>
              <a:t>  behavior: "good", // good | average | bad</a:t>
            </a:r>
          </a:p>
          <a:p>
            <a:r>
              <a:rPr lang="vi-VN" dirty="0">
                <a:solidFill>
                  <a:schemeClr val="bg1"/>
                </a:solidFill>
              </a:rPr>
              <a:t>  extracurricular: true,</a:t>
            </a:r>
          </a:p>
          <a:p>
            <a:r>
              <a:rPr lang="vi-VN" dirty="0">
                <a:solidFill>
                  <a:schemeClr val="bg1"/>
                </a:solidFill>
              </a:rPr>
              <a:t>};</a:t>
            </a:r>
          </a:p>
          <a:p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1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1E0D-898E-D1AB-5DDD-D25029C08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588B1-E3D3-BFAC-2EEB-48C82A83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Bài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946D8-7E27-D29A-3106-AB165A5F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6B84F-847A-1A32-D65B-2508B0998F9C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1. validation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in "Invalid student data"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069243-8491-BB56-1FDD-C3204B676A37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8909364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endParaRPr lang="en-US" dirty="0"/>
          </a:p>
          <a:p>
            <a:pPr lvl="1"/>
            <a:r>
              <a:rPr lang="en-US" dirty="0"/>
              <a:t>age &lt;= 0 </a:t>
            </a:r>
            <a:r>
              <a:rPr lang="en-US" dirty="0" err="1"/>
              <a:t>hoặc</a:t>
            </a:r>
            <a:r>
              <a:rPr lang="en-US" dirty="0"/>
              <a:t> age &gt; 100</a:t>
            </a:r>
          </a:p>
          <a:p>
            <a:pPr lvl="1"/>
            <a:r>
              <a:rPr lang="en-US" dirty="0"/>
              <a:t>scores &lt;= 0 </a:t>
            </a:r>
            <a:r>
              <a:rPr lang="en-US" dirty="0" err="1"/>
              <a:t>hoặc</a:t>
            </a:r>
            <a:r>
              <a:rPr lang="en-US" dirty="0"/>
              <a:t> &gt; 10</a:t>
            </a:r>
          </a:p>
          <a:p>
            <a:pPr lvl="1"/>
            <a:r>
              <a:rPr lang="en-US" dirty="0" err="1"/>
              <a:t>absentDays</a:t>
            </a:r>
            <a:r>
              <a:rPr lang="en-US" dirty="0"/>
              <a:t> &gt; </a:t>
            </a:r>
            <a:r>
              <a:rPr lang="en-US" dirty="0" err="1"/>
              <a:t>totalDays</a:t>
            </a:r>
            <a:endParaRPr lang="en-US" dirty="0"/>
          </a:p>
          <a:p>
            <a:r>
              <a:rPr lang="en-US" dirty="0"/>
              <a:t>Behavior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: good, average, bad --&gt; </a:t>
            </a:r>
            <a:r>
              <a:rPr lang="en-US" dirty="0" err="1"/>
              <a:t>dùng</a:t>
            </a:r>
            <a:r>
              <a:rPr lang="en-US" dirty="0"/>
              <a:t> includes()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vd</a:t>
            </a:r>
            <a:r>
              <a:rPr lang="en-US" dirty="0"/>
              <a:t>: ["good", "average", "bad"].includes(behavior)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2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F716-3A7B-080A-3025-5A9827EA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E8F196-36DC-84E6-CFAE-2F3EA6AF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Bài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A136B-5E6F-C710-5B24-E8604ECD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6D06A17-425E-D578-1E5F-EC493573C75C}"/>
              </a:ext>
            </a:extLst>
          </p:cNvPr>
          <p:cNvSpPr txBox="1">
            <a:spLocks/>
          </p:cNvSpPr>
          <p:nvPr/>
        </p:nvSpPr>
        <p:spPr>
          <a:xfrm>
            <a:off x="533401" y="1575137"/>
            <a:ext cx="5562599" cy="1853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"Average score: xx",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tròn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2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phẩy</a:t>
            </a:r>
            <a:r>
              <a:rPr lang="en-US" dirty="0"/>
              <a:t> (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toFixed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8937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70CE-EE0E-015F-3831-F7F580B4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816E71-8F14-FFDF-F9BF-5EA88F3C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Bài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45FC6B-EEB1-E214-2D51-AF1533B9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197FB7C-F040-728B-1E43-57904C756B95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lực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FB84E2F-6AEF-DAC4-EAF3-C9A0426E3E0E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8909364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avg &gt; 8: </a:t>
            </a:r>
            <a:r>
              <a:rPr lang="en-US" dirty="0" err="1"/>
              <a:t>Giỏi</a:t>
            </a:r>
            <a:endParaRPr lang="en-US" dirty="0"/>
          </a:p>
          <a:p>
            <a:r>
              <a:rPr lang="en-US" dirty="0"/>
              <a:t>avg &gt;= 6.5: </a:t>
            </a:r>
            <a:r>
              <a:rPr lang="en-US" dirty="0" err="1"/>
              <a:t>Khá</a:t>
            </a:r>
            <a:endParaRPr lang="en-US" dirty="0"/>
          </a:p>
          <a:p>
            <a:r>
              <a:rPr lang="en-US" dirty="0"/>
              <a:t>avg &gt;= 5: Trung </a:t>
            </a:r>
            <a:r>
              <a:rPr lang="en-US" dirty="0" err="1"/>
              <a:t>bình</a:t>
            </a:r>
            <a:endParaRPr lang="en-US" dirty="0"/>
          </a:p>
          <a:p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: </a:t>
            </a:r>
            <a:r>
              <a:rPr lang="en-US" dirty="0" err="1"/>
              <a:t>Yếu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41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7DCE-6452-F316-CFA0-7AEDABC8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6E20F-A3BE-A08F-5F5D-94E0070F6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Bài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nhà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220E1-519E-3B99-9787-19EFA23B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E3CDF44-85BC-773D-9543-6FB2250D11B7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4. Cảnh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lệch</a:t>
            </a:r>
            <a:r>
              <a:rPr lang="en-US" dirty="0"/>
              <a:t> </a:t>
            </a:r>
            <a:r>
              <a:rPr lang="en-US" dirty="0" err="1"/>
              <a:t>môn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7D5F37F-3368-4B02-2927-BF4CFB0883FE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Nếu</a:t>
            </a:r>
            <a:r>
              <a:rPr lang="en-US" dirty="0"/>
              <a:t> math &gt;= 9 </a:t>
            </a:r>
            <a:r>
              <a:rPr lang="en-US" dirty="0" err="1"/>
              <a:t>nhưng</a:t>
            </a:r>
            <a:r>
              <a:rPr lang="en-US" dirty="0"/>
              <a:t> chemistry &lt; 5 --&gt; in </a:t>
            </a:r>
            <a:r>
              <a:rPr lang="en-US" dirty="0" err="1"/>
              <a:t>ra</a:t>
            </a:r>
            <a:r>
              <a:rPr lang="en-US" dirty="0"/>
              <a:t> "Strong in Math, weak in Science"</a:t>
            </a:r>
          </a:p>
          <a:p>
            <a:r>
              <a:rPr lang="en-US" dirty="0" err="1"/>
              <a:t>Nếu</a:t>
            </a:r>
            <a:r>
              <a:rPr lang="en-US" dirty="0"/>
              <a:t> extracurricular == false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attendanceRate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&lt; 85 --&gt; in </a:t>
            </a:r>
            <a:r>
              <a:rPr lang="en-US" dirty="0" err="1"/>
              <a:t>ra</a:t>
            </a:r>
            <a:r>
              <a:rPr lang="en-US" dirty="0"/>
              <a:t> "Needs more participation"</a:t>
            </a:r>
          </a:p>
        </p:txBody>
      </p:sp>
    </p:spTree>
    <p:extLst>
      <p:ext uri="{BB962C8B-B14F-4D97-AF65-F5344CB8AC3E}">
        <p14:creationId xmlns:p14="http://schemas.microsoft.com/office/powerpoint/2010/main" val="291267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58B0-EC88-5522-A3BD-AFECF1D3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CCFD40-529D-01F8-34AF-E324A971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4" y="1051134"/>
            <a:ext cx="9806947" cy="859055"/>
          </a:xfrm>
        </p:spPr>
        <p:txBody>
          <a:bodyPr>
            <a:normAutofit fontScale="90000"/>
          </a:bodyPr>
          <a:lstStyle/>
          <a:p>
            <a:r>
              <a:rPr lang="en-US" dirty="0"/>
              <a:t>Bài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DFDFE-333A-6ADD-FE79-4A2E5A9D8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77B1B9-9F55-E41D-4059-A60B1E2B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2319497"/>
            <a:ext cx="7659987" cy="3692004"/>
          </a:xfrm>
        </p:spPr>
        <p:txBody>
          <a:bodyPr>
            <a:normAutofit/>
          </a:bodyPr>
          <a:lstStyle/>
          <a:p>
            <a:r>
              <a:rPr lang="vi-VN" b="1" dirty="0">
                <a:solidFill>
                  <a:schemeClr val="bg1"/>
                </a:solidFill>
              </a:rPr>
              <a:t>Mục tiêu: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Hiểu Switch dùng để làm gì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Phân biệt được khi nào dùng switch thay vì if/else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Hiểu vòng lặp (loop)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bg1"/>
                </a:solidFill>
              </a:rPr>
              <a:t>Hiểu cơ chế: bắt đầu -- kiểm tra điều kiện -- lặp -- dừng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06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51CC2-1EDA-55CC-86F3-4B6E4B105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64F2C8-A427-27F5-E022-CC02EE23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FA3739-0756-92AA-8B6C-9524E47E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64FB9E3-FEC9-6CC5-1443-E1E56AEC6B50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1. Switch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C6C15FB-B952-76C0-B400-87F850269667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100" b="1" i="1" dirty="0"/>
              <a:t>Ý</a:t>
            </a:r>
            <a:r>
              <a:rPr lang="vi-VN" sz="2100" b="1" i="1" dirty="0"/>
              <a:t> nghĩa:</a:t>
            </a:r>
            <a:r>
              <a:rPr lang="vi-VN" sz="2100" dirty="0"/>
              <a:t> dùng khi có nhiều trường hợp so sánh bằng (===) của cùng một giá trị. </a:t>
            </a:r>
          </a:p>
          <a:p>
            <a:pPr marL="0" indent="0">
              <a:buNone/>
            </a:pPr>
            <a:r>
              <a:rPr lang="vi-VN" b="1" i="1" dirty="0"/>
              <a:t>Cú pháp: 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switch (value)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case giaTri1: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vi-VN" dirty="0"/>
              <a:t>// code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break;</a:t>
            </a:r>
            <a:br>
              <a:rPr lang="vi-VN" dirty="0"/>
            </a:b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vi-VN" dirty="0"/>
              <a:t>case giaTri2: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// code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break;</a:t>
            </a:r>
            <a:br>
              <a:rPr lang="vi-VN" dirty="0"/>
            </a:br>
            <a:endParaRPr lang="vi-VN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default: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// code mặc định</a:t>
            </a:r>
          </a:p>
          <a:p>
            <a:pPr marL="0" indent="0">
              <a:buNone/>
            </a:pPr>
            <a:r>
              <a:rPr lang="vi-VN" dirty="0"/>
              <a:t>} </a:t>
            </a:r>
            <a:br>
              <a:rPr lang="vi-VN" dirty="0"/>
            </a:b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0F271BF-6C8B-1758-A4E3-4B1DF12C20D2}"/>
              </a:ext>
            </a:extLst>
          </p:cNvPr>
          <p:cNvSpPr txBox="1">
            <a:spLocks/>
          </p:cNvSpPr>
          <p:nvPr/>
        </p:nvSpPr>
        <p:spPr>
          <a:xfrm>
            <a:off x="6096000" y="1683106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i="1" dirty="0"/>
              <a:t>Cách hoạt động: </a:t>
            </a:r>
            <a:r>
              <a:rPr lang="vi-VN" dirty="0"/>
              <a:t>JavaScript sẽ so sánh value, nếu khớp case nào sẽ chạy code bên trong, khi gặp break thì dừng.</a:t>
            </a:r>
            <a:endParaRPr lang="en-US" dirty="0"/>
          </a:p>
          <a:p>
            <a:pPr marL="0" indent="0">
              <a:buNone/>
            </a:pPr>
            <a:endParaRPr lang="vi-VN" sz="2800" dirty="0"/>
          </a:p>
          <a:p>
            <a:r>
              <a:rPr lang="vi-VN" b="1" i="1" dirty="0"/>
              <a:t>Lưu ý:</a:t>
            </a:r>
            <a:r>
              <a:rPr lang="vi-VN" dirty="0"/>
              <a:t> phải có break để thoát khỏi case, nếu không sẽ chạy liên tiếp các case dưới, và switch chỉ dùng cho trường hợp so sánh bằng (===), không dùng so sánh  điều kiện kiểu &gt;,&lt;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81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A2D38-C69F-9A7A-8E72-620EF3B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AAA29-C90B-D044-ED0E-E3DF50BB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3C3FE0-E4EC-DCE4-1BC0-065D9BCE4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E26F0C1-0FFA-9967-0A9B-6C6984BACA93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1. Switch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ACB9460-799E-8017-3445-09EDEF3A328E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r>
              <a:rPr lang="en-US" b="1" i="1" dirty="0"/>
              <a:t> 1:</a:t>
            </a:r>
            <a:endParaRPr lang="vi-VN" sz="2100" dirty="0"/>
          </a:p>
          <a:p>
            <a:pPr marL="0" indent="0">
              <a:buNone/>
            </a:pPr>
            <a:r>
              <a:rPr lang="vi-VN" dirty="0"/>
              <a:t>let role="admin";</a:t>
            </a:r>
          </a:p>
          <a:p>
            <a:pPr marL="0" indent="0">
              <a:buNone/>
            </a:pPr>
            <a:r>
              <a:rPr lang="vi-VN" dirty="0"/>
              <a:t>switch (role)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case "admin":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console.log("Quản trị");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break;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case "user":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console.log("Người dùng");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vi-VN" dirty="0"/>
              <a:t>break;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default: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vi-VN" dirty="0"/>
              <a:t>console.log("Khách");</a:t>
            </a:r>
          </a:p>
          <a:p>
            <a:pPr marL="0" indent="0">
              <a:buNone/>
            </a:pPr>
            <a:r>
              <a:rPr lang="vi-VN" dirty="0"/>
              <a:t>}</a:t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0BDF4DA-7087-680E-37EE-A55AB2E34BA7}"/>
              </a:ext>
            </a:extLst>
          </p:cNvPr>
          <p:cNvSpPr txBox="1">
            <a:spLocks/>
          </p:cNvSpPr>
          <p:nvPr/>
        </p:nvSpPr>
        <p:spPr>
          <a:xfrm>
            <a:off x="6096000" y="1683106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r>
              <a:rPr lang="en-US" b="1" i="1" dirty="0"/>
              <a:t> 2: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status = 404;</a:t>
            </a:r>
          </a:p>
          <a:p>
            <a:pPr marL="0" indent="0">
              <a:buNone/>
            </a:pP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200 → OK</a:t>
            </a:r>
          </a:p>
          <a:p>
            <a:pPr lvl="1"/>
            <a:r>
              <a:rPr lang="en-US" dirty="0"/>
              <a:t>404 → NOT FOUND</a:t>
            </a:r>
          </a:p>
          <a:p>
            <a:pPr lvl="1"/>
            <a:r>
              <a:rPr lang="en-US" dirty="0"/>
              <a:t>500 → SERVER ERROR</a:t>
            </a:r>
          </a:p>
          <a:p>
            <a:pPr lvl="1"/>
            <a:r>
              <a:rPr lang="en-US" dirty="0"/>
              <a:t>default → UNKNOWN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07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82550-4A75-B7BA-EDE8-29A69D78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73F29-AAA0-E515-3283-88BF431DB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D1843-A870-11BA-3C36-7E88252A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07F34C2-F230-D116-2D6E-DF5A013C0BD4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1. Switch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E015ED7-2231-D755-FDCA-93C84C6C0909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i="1" dirty="0" err="1"/>
              <a:t>Ví</a:t>
            </a:r>
            <a:r>
              <a:rPr lang="en-US" b="1" i="1" dirty="0"/>
              <a:t> </a:t>
            </a:r>
            <a:r>
              <a:rPr lang="en-US" b="1" i="1" dirty="0" err="1"/>
              <a:t>dụ</a:t>
            </a:r>
            <a:r>
              <a:rPr lang="en-US" b="1" i="1" dirty="0"/>
              <a:t> 3:</a:t>
            </a:r>
            <a:endParaRPr lang="vi-VN" sz="2100" dirty="0"/>
          </a:p>
          <a:p>
            <a:pPr marL="0" indent="0">
              <a:buNone/>
            </a:pPr>
            <a:r>
              <a:rPr lang="en-US" dirty="0"/>
              <a:t>let role = "admin";</a:t>
            </a:r>
          </a:p>
          <a:p>
            <a:pPr marL="0" indent="0">
              <a:buNone/>
            </a:pPr>
            <a:r>
              <a:rPr lang="en-US" dirty="0"/>
              <a:t>switch (role) {</a:t>
            </a:r>
          </a:p>
          <a:p>
            <a:pPr marL="0" indent="0">
              <a:buNone/>
            </a:pPr>
            <a:r>
              <a:rPr lang="en-US" dirty="0"/>
              <a:t>  case "admin":</a:t>
            </a:r>
          </a:p>
          <a:p>
            <a:pPr marL="0" indent="0">
              <a:buNone/>
            </a:pPr>
            <a:r>
              <a:rPr lang="en-US" dirty="0"/>
              <a:t>  case "manager":</a:t>
            </a:r>
          </a:p>
          <a:p>
            <a:pPr marL="0" indent="0">
              <a:buNone/>
            </a:pPr>
            <a:r>
              <a:rPr lang="en-US" dirty="0"/>
              <a:t>    console.log("Full access");</a:t>
            </a:r>
          </a:p>
          <a:p>
            <a:pPr marL="0" indent="0">
              <a:buNone/>
            </a:pPr>
            <a:r>
              <a:rPr lang="en-US" dirty="0"/>
              <a:t>    break;</a:t>
            </a:r>
          </a:p>
          <a:p>
            <a:pPr marL="0" indent="0">
              <a:buNone/>
            </a:pPr>
            <a:r>
              <a:rPr lang="en-US" dirty="0"/>
              <a:t>  case "user":</a:t>
            </a:r>
          </a:p>
          <a:p>
            <a:pPr marL="0" indent="0">
              <a:buNone/>
            </a:pPr>
            <a:r>
              <a:rPr lang="en-US" dirty="0"/>
              <a:t>    console.log("Limited access");</a:t>
            </a:r>
          </a:p>
          <a:p>
            <a:pPr marL="0" indent="0">
              <a:buNone/>
            </a:pPr>
            <a:r>
              <a:rPr lang="en-US" dirty="0"/>
              <a:t>    break;</a:t>
            </a:r>
          </a:p>
          <a:p>
            <a:pPr marL="0" indent="0">
              <a:buNone/>
            </a:pPr>
            <a:r>
              <a:rPr lang="en-US" dirty="0"/>
              <a:t>}</a:t>
            </a:r>
            <a:r>
              <a:rPr lang="vi-VN" dirty="0"/>
              <a:t/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26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8EB5C-EE6A-5EF2-C3D1-FF80E52D9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28C89-7B66-96CA-8205-07CFBB3B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726D01-63CE-D5C1-86E0-2A031011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FD21974-086F-B5D8-48DB-3AB10506F29E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2. Vòng </a:t>
            </a:r>
            <a:r>
              <a:rPr lang="en-US" b="1" dirty="0" err="1"/>
              <a:t>lặp</a:t>
            </a:r>
            <a:r>
              <a:rPr lang="en-US" b="1" dirty="0"/>
              <a:t> (Loop)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7F259CF2-86DB-16F9-BF2D-0D401AD60834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Ý</a:t>
            </a:r>
            <a:r>
              <a:rPr lang="vi-VN" b="1" dirty="0"/>
              <a:t> nghĩa:</a:t>
            </a:r>
            <a:r>
              <a:rPr lang="vi-VN" dirty="0"/>
              <a:t> Loop giúp lặp code nhiều lần, tránh viết lặp thủ công</a:t>
            </a:r>
          </a:p>
          <a:p>
            <a:r>
              <a:rPr lang="vi-VN" b="1" dirty="0"/>
              <a:t>Ví dụ:</a:t>
            </a:r>
            <a:r>
              <a:rPr lang="vi-VN" dirty="0"/>
              <a:t> cần in 100 dòng thì ko thể viết 100 dòng code in → nên dùng đến vòng lặp.</a:t>
            </a:r>
          </a:p>
          <a:p>
            <a:r>
              <a:rPr lang="vi-VN" dirty="0"/>
              <a:t>Trong Javascript có nhiều loại vòng lặp, nhưng dùng phổ biến thì 2 loại: For, While. Ngoài ra còn có: do...while, for...of, for...in</a:t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5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D951C-C3E2-696C-8163-A499CE15D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83D591-0255-0426-E4BC-8ACB506E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0556C-B7C8-2DF9-C027-2D48CF1D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F7795A5-4662-2094-D29E-EB2E732A9D73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2.1 For – </a:t>
            </a:r>
            <a:r>
              <a:rPr lang="en-US" b="1" dirty="0" err="1"/>
              <a:t>Lặp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lần</a:t>
            </a:r>
            <a:r>
              <a:rPr lang="en-US" b="1" dirty="0"/>
              <a:t> </a:t>
            </a:r>
            <a:r>
              <a:rPr lang="en-US" b="1" dirty="0" err="1"/>
              <a:t>rõ</a:t>
            </a:r>
            <a:r>
              <a:rPr lang="en-US" b="1" dirty="0"/>
              <a:t> </a:t>
            </a:r>
            <a:r>
              <a:rPr lang="en-US" b="1" dirty="0" err="1"/>
              <a:t>ràng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379F88D-3142-54D7-7211-4712F477F15F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Ý</a:t>
            </a:r>
            <a:r>
              <a:rPr lang="vi-VN" b="1" dirty="0"/>
              <a:t> nghĩa:</a:t>
            </a:r>
            <a:r>
              <a:rPr lang="vi-VN" dirty="0"/>
              <a:t> Dùng khi biết trước lặp bao nhiêu lần</a:t>
            </a:r>
          </a:p>
          <a:p>
            <a:r>
              <a:rPr lang="vi-VN" b="1" dirty="0"/>
              <a:t>Cú pháp: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for (init(khởi_tạo);</a:t>
            </a:r>
            <a:r>
              <a:rPr lang="en-US" dirty="0"/>
              <a:t> </a:t>
            </a:r>
            <a:r>
              <a:rPr lang="vi-VN" dirty="0"/>
              <a:t>condition(điều_kiện);</a:t>
            </a:r>
            <a:r>
              <a:rPr lang="en-US" dirty="0"/>
              <a:t> </a:t>
            </a:r>
            <a:r>
              <a:rPr lang="vi-VN" dirty="0"/>
              <a:t>update(tăng_giảm))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vi-VN" dirty="0"/>
              <a:t>// code lặp</a:t>
            </a:r>
          </a:p>
          <a:p>
            <a:pPr marL="0" indent="0">
              <a:buNone/>
            </a:pPr>
            <a:r>
              <a:rPr lang="vi-VN" dirty="0"/>
              <a:t>}</a:t>
            </a:r>
          </a:p>
          <a:p>
            <a:r>
              <a:rPr lang="vi-VN" b="1" dirty="0"/>
              <a:t>Ví dụ: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for (let i = 1; i &lt;= 5; i++)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vi-VN" dirty="0"/>
              <a:t>console.log(i);</a:t>
            </a:r>
          </a:p>
          <a:p>
            <a:pPr marL="0" indent="0">
              <a:buNone/>
            </a:pPr>
            <a:r>
              <a:rPr lang="vi-VN" dirty="0"/>
              <a:t>}</a:t>
            </a:r>
            <a:br>
              <a:rPr lang="vi-VN" dirty="0"/>
            </a:b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4D79E30-655A-E3AA-34E3-18DA9F72602D}"/>
              </a:ext>
            </a:extLst>
          </p:cNvPr>
          <p:cNvSpPr txBox="1">
            <a:spLocks/>
          </p:cNvSpPr>
          <p:nvPr/>
        </p:nvSpPr>
        <p:spPr>
          <a:xfrm>
            <a:off x="6096000" y="1700376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dirty="0"/>
              <a:t>Kết quả:</a:t>
            </a:r>
            <a:endParaRPr lang="vi-VN" dirty="0"/>
          </a:p>
          <a:p>
            <a:r>
              <a:rPr lang="vi-VN" b="1" dirty="0"/>
              <a:t>Giải thích:</a:t>
            </a:r>
            <a:endParaRPr lang="vi-VN" dirty="0"/>
          </a:p>
          <a:p>
            <a:pPr lvl="1"/>
            <a:r>
              <a:rPr lang="vi-VN" dirty="0"/>
              <a:t> i = 1 khởi tạo biến đếm </a:t>
            </a:r>
          </a:p>
          <a:p>
            <a:pPr lvl="1"/>
            <a:r>
              <a:rPr lang="vi-VN" dirty="0"/>
              <a:t>i &lt;= 5 điều kiện lặp, nếu đúng → chạy tiếp, nếu sai → dừng.</a:t>
            </a:r>
          </a:p>
          <a:p>
            <a:pPr lvl="1"/>
            <a:r>
              <a:rPr lang="vi-VN" dirty="0"/>
              <a:t>i++ sau mỗi vòng: tăng i thêm 1, tương đương:i = i + 1</a:t>
            </a:r>
          </a:p>
          <a:p>
            <a:r>
              <a:rPr lang="vi-VN" b="1" dirty="0"/>
              <a:t>Lưu ý: </a:t>
            </a:r>
            <a:endParaRPr lang="vi-VN" dirty="0"/>
          </a:p>
          <a:p>
            <a:pPr lvl="1"/>
            <a:r>
              <a:rPr lang="vi-VN" dirty="0"/>
              <a:t>Rất phổ biến khi loop array</a:t>
            </a:r>
          </a:p>
          <a:p>
            <a:pPr lvl="1"/>
            <a:r>
              <a:rPr lang="vi-VN" dirty="0"/>
              <a:t>Tránh loop vô hạn (condition luôn true)</a:t>
            </a:r>
            <a:br>
              <a:rPr lang="vi-V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B1E78-6A49-A2B3-E462-908D0E624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066184-FEEA-B340-78F3-FB3560939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522779-9A95-2B8B-98ED-B1F79640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79F85F2-8668-F028-1157-0A5FA705CFE2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2.1 For – </a:t>
            </a:r>
            <a:r>
              <a:rPr lang="en-US" b="1" dirty="0" err="1"/>
              <a:t>Lặp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lần</a:t>
            </a:r>
            <a:r>
              <a:rPr lang="en-US" b="1" dirty="0"/>
              <a:t> </a:t>
            </a:r>
            <a:r>
              <a:rPr lang="en-US" b="1" dirty="0" err="1"/>
              <a:t>rõ</a:t>
            </a:r>
            <a:r>
              <a:rPr lang="en-US" b="1" dirty="0"/>
              <a:t> </a:t>
            </a:r>
            <a:r>
              <a:rPr lang="en-US" b="1" dirty="0" err="1"/>
              <a:t>ràng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25285A6B-BE6A-7611-6359-8FF3C02C0EF0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2: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mảng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fruits = ["apple", "banana", "orange"];</a:t>
            </a:r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fruits.length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console.log(fruits[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AFC86770-F711-B5C6-7C05-0AD15798F1CE}"/>
              </a:ext>
            </a:extLst>
          </p:cNvPr>
          <p:cNvSpPr txBox="1">
            <a:spLocks/>
          </p:cNvSpPr>
          <p:nvPr/>
        </p:nvSpPr>
        <p:spPr>
          <a:xfrm>
            <a:off x="6096000" y="1700376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/>
              <a:t>Ví</a:t>
            </a:r>
            <a:r>
              <a:rPr lang="en-US" b="1" dirty="0"/>
              <a:t> </a:t>
            </a:r>
            <a:r>
              <a:rPr lang="en-US" b="1" dirty="0" err="1"/>
              <a:t>dụ</a:t>
            </a:r>
            <a:r>
              <a:rPr lang="en-US" b="1" dirty="0"/>
              <a:t> 3: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users= [</a:t>
            </a:r>
          </a:p>
          <a:p>
            <a:pPr marL="0" indent="0">
              <a:buNone/>
            </a:pPr>
            <a:r>
              <a:rPr lang="en-US" dirty="0"/>
              <a:t>  { </a:t>
            </a:r>
            <a:r>
              <a:rPr lang="en-US" dirty="0" err="1"/>
              <a:t>name:"A</a:t>
            </a:r>
            <a:r>
              <a:rPr lang="en-US" dirty="0"/>
              <a:t>", </a:t>
            </a:r>
            <a:r>
              <a:rPr lang="en-US" dirty="0" err="1"/>
              <a:t>active:true</a:t>
            </a:r>
            <a:r>
              <a:rPr lang="en-US" dirty="0"/>
              <a:t> },</a:t>
            </a:r>
          </a:p>
          <a:p>
            <a:pPr marL="0" indent="0">
              <a:buNone/>
            </a:pPr>
            <a:r>
              <a:rPr lang="en-US" dirty="0"/>
              <a:t>  { </a:t>
            </a:r>
            <a:r>
              <a:rPr lang="en-US" dirty="0" err="1"/>
              <a:t>name:"B</a:t>
            </a:r>
            <a:r>
              <a:rPr lang="en-US" dirty="0"/>
              <a:t>", </a:t>
            </a:r>
            <a:r>
              <a:rPr lang="en-US" dirty="0" err="1"/>
              <a:t>active:false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b="1" dirty="0"/>
              <a:t>Yêu </a:t>
            </a:r>
            <a:r>
              <a:rPr lang="en-US" b="1" dirty="0" err="1"/>
              <a:t>cầu</a:t>
            </a:r>
            <a:r>
              <a:rPr lang="en-US" b="1" dirty="0"/>
              <a:t>:</a:t>
            </a:r>
            <a:r>
              <a:rPr lang="en-US" dirty="0"/>
              <a:t> active → PASS, false → FAIL</a:t>
            </a:r>
          </a:p>
          <a:p>
            <a:pPr marL="0" indent="0">
              <a:buNone/>
            </a:pPr>
            <a:r>
              <a:rPr lang="en-US" dirty="0"/>
              <a:t>let users= [</a:t>
            </a:r>
          </a:p>
          <a:p>
            <a:pPr marL="0" indent="0">
              <a:buNone/>
            </a:pPr>
            <a:r>
              <a:rPr lang="en-US" dirty="0"/>
              <a:t>  { </a:t>
            </a:r>
            <a:r>
              <a:rPr lang="en-US" dirty="0" err="1"/>
              <a:t>name:"A</a:t>
            </a:r>
            <a:r>
              <a:rPr lang="en-US" dirty="0"/>
              <a:t>", </a:t>
            </a:r>
            <a:r>
              <a:rPr lang="en-US" dirty="0" err="1"/>
              <a:t>active:true</a:t>
            </a:r>
            <a:r>
              <a:rPr lang="en-US" dirty="0"/>
              <a:t> },</a:t>
            </a:r>
          </a:p>
          <a:p>
            <a:pPr marL="0" indent="0">
              <a:buNone/>
            </a:pPr>
            <a:r>
              <a:rPr lang="en-US" dirty="0"/>
              <a:t>  { </a:t>
            </a:r>
            <a:r>
              <a:rPr lang="en-US" dirty="0" err="1"/>
              <a:t>name:"B</a:t>
            </a:r>
            <a:r>
              <a:rPr lang="en-US" dirty="0"/>
              <a:t>", </a:t>
            </a:r>
            <a:r>
              <a:rPr lang="en-US" dirty="0" err="1"/>
              <a:t>active:false</a:t>
            </a: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for (let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users.length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  if (users[</a:t>
            </a:r>
            <a:r>
              <a:rPr lang="en-US" dirty="0" err="1"/>
              <a:t>i</a:t>
            </a:r>
            <a:r>
              <a:rPr lang="en-US" dirty="0"/>
              <a:t>].active) {</a:t>
            </a:r>
          </a:p>
          <a:p>
            <a:pPr marL="0" indent="0">
              <a:buNone/>
            </a:pPr>
            <a:r>
              <a:rPr lang="en-US" dirty="0"/>
              <a:t>    console.log(users[</a:t>
            </a:r>
            <a:r>
              <a:rPr lang="en-US" dirty="0" err="1"/>
              <a:t>i</a:t>
            </a:r>
            <a:r>
              <a:rPr lang="en-US" dirty="0"/>
              <a:t>].name, "PASS");</a:t>
            </a:r>
          </a:p>
          <a:p>
            <a:pPr marL="0" indent="0">
              <a:buNone/>
            </a:pPr>
            <a:r>
              <a:rPr lang="en-US" dirty="0"/>
              <a:t>  } else {</a:t>
            </a:r>
          </a:p>
          <a:p>
            <a:pPr marL="0" indent="0">
              <a:buNone/>
            </a:pPr>
            <a:r>
              <a:rPr lang="en-US" dirty="0"/>
              <a:t>    console.log(users[</a:t>
            </a:r>
            <a:r>
              <a:rPr lang="en-US" dirty="0" err="1"/>
              <a:t>i</a:t>
            </a:r>
            <a:r>
              <a:rPr lang="en-US" dirty="0"/>
              <a:t>].name, "FAIL");</a:t>
            </a:r>
          </a:p>
          <a:p>
            <a:pPr marL="0" indent="0">
              <a:buNone/>
            </a:pPr>
            <a:r>
              <a:rPr lang="en-US" dirty="0"/>
              <a:t>  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0933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C234-1B4D-5DF1-F527-500E11AA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7207CC-7825-6260-DCE0-7D5CA773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54198C-E787-634C-FF0A-30FCAA5A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11B6405-7F9E-8C83-0F2F-D3BE8F5AAC85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2.2 While – </a:t>
            </a:r>
            <a:r>
              <a:rPr lang="en-US" b="1" dirty="0" err="1"/>
              <a:t>Lặp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B1C3E594-E2EE-261C-1F79-2C34B7DD9259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Ý </a:t>
            </a:r>
            <a:r>
              <a:rPr lang="en-US" b="1" dirty="0" err="1"/>
              <a:t>nghĩa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đúng</a:t>
            </a:r>
            <a:endParaRPr lang="en-US" dirty="0"/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while (condition(</a:t>
            </a:r>
            <a:r>
              <a:rPr lang="en-US" dirty="0" err="1"/>
              <a:t>điều_kiện</a:t>
            </a:r>
            <a:r>
              <a:rPr lang="en-US" dirty="0"/>
              <a:t>)) {</a:t>
            </a:r>
          </a:p>
          <a:p>
            <a:pPr marL="0" indent="0">
              <a:buNone/>
            </a:pPr>
            <a:r>
              <a:rPr lang="en-US" dirty="0"/>
              <a:t>    // code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30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F718-18AC-3E40-8B11-91110294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E9E329-9210-FD40-E5A7-A914A391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6825F-A272-2A0C-CF7F-833382A8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C089812-1190-A60D-CF47-DCD30777B9A2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2.2 While – </a:t>
            </a:r>
            <a:r>
              <a:rPr lang="en-US" b="1" dirty="0" err="1"/>
              <a:t>Lặp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1A39FA6-6E59-56A2-B748-B0BEB4C6975F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dirty="0"/>
              <a:t>Ví dụ</a:t>
            </a:r>
            <a:r>
              <a:rPr lang="en-US" b="1" dirty="0"/>
              <a:t> 1</a:t>
            </a:r>
            <a:r>
              <a:rPr lang="vi-VN" b="1" dirty="0"/>
              <a:t>: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let i = 1;</a:t>
            </a:r>
          </a:p>
          <a:p>
            <a:pPr marL="0" indent="0">
              <a:buNone/>
            </a:pPr>
            <a:r>
              <a:rPr lang="vi-VN" dirty="0"/>
              <a:t>while (i &lt;= 5) {</a:t>
            </a:r>
          </a:p>
          <a:p>
            <a:pPr marL="0" indent="0">
              <a:buNone/>
            </a:pPr>
            <a:r>
              <a:rPr lang="vi-VN" dirty="0"/>
              <a:t>  console.log(i);</a:t>
            </a:r>
          </a:p>
          <a:p>
            <a:pPr marL="0" indent="0">
              <a:buNone/>
            </a:pPr>
            <a:r>
              <a:rPr lang="vi-VN" dirty="0"/>
              <a:t>  i++;</a:t>
            </a:r>
          </a:p>
          <a:p>
            <a:pPr marL="0" indent="0">
              <a:buNone/>
            </a:pPr>
            <a:r>
              <a:rPr lang="vi-VN" dirty="0"/>
              <a:t>}</a:t>
            </a:r>
          </a:p>
          <a:p>
            <a:r>
              <a:rPr lang="vi-VN" b="1" dirty="0"/>
              <a:t>Cách hoạt động:</a:t>
            </a:r>
            <a:endParaRPr lang="vi-VN" dirty="0"/>
          </a:p>
          <a:p>
            <a:pPr lvl="1"/>
            <a:r>
              <a:rPr lang="vi-VN" dirty="0"/>
              <a:t>Kiểm tra điều kiện</a:t>
            </a:r>
          </a:p>
          <a:p>
            <a:pPr lvl="1"/>
            <a:r>
              <a:rPr lang="vi-VN" dirty="0"/>
              <a:t>→ đúng → chạy code</a:t>
            </a:r>
          </a:p>
          <a:p>
            <a:pPr lvl="1"/>
            <a:r>
              <a:rPr lang="vi-VN" dirty="0"/>
              <a:t>→ quay lại kiểm tra</a:t>
            </a:r>
          </a:p>
          <a:p>
            <a:pPr lvl="1"/>
            <a:r>
              <a:rPr lang="vi-VN" dirty="0"/>
              <a:t>→ sai → dừng </a:t>
            </a:r>
          </a:p>
          <a:p>
            <a:r>
              <a:rPr lang="vi-VN" b="1" dirty="0"/>
              <a:t>Lưu ý:</a:t>
            </a:r>
            <a:endParaRPr lang="vi-VN" dirty="0"/>
          </a:p>
          <a:p>
            <a:pPr lvl="1"/>
            <a:r>
              <a:rPr lang="vi-VN" dirty="0"/>
              <a:t>Dễ bị **loop vô hạn** nếu quên update biến</a:t>
            </a:r>
          </a:p>
          <a:p>
            <a:pPr lvl="1"/>
            <a:r>
              <a:rPr lang="vi-VN" dirty="0"/>
              <a:t>Dùng khi không biết trước số lần lặp</a:t>
            </a:r>
            <a:br>
              <a:rPr lang="vi-VN" dirty="0"/>
            </a:b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4AB2E5CA-5B0A-91F3-685F-88C4ABBC1F9D}"/>
              </a:ext>
            </a:extLst>
          </p:cNvPr>
          <p:cNvSpPr txBox="1">
            <a:spLocks/>
          </p:cNvSpPr>
          <p:nvPr/>
        </p:nvSpPr>
        <p:spPr>
          <a:xfrm>
            <a:off x="6096000" y="1683106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2:</a:t>
            </a:r>
          </a:p>
          <a:p>
            <a:pPr marL="0" indent="0">
              <a:buNone/>
            </a:pPr>
            <a:r>
              <a:rPr lang="en-US" dirty="0"/>
              <a:t>let retry = 1;</a:t>
            </a:r>
          </a:p>
          <a:p>
            <a:pPr marL="0" indent="0">
              <a:buNone/>
            </a:pPr>
            <a:r>
              <a:rPr lang="en-US" dirty="0"/>
              <a:t>while (retry &lt;= 3) {</a:t>
            </a:r>
          </a:p>
          <a:p>
            <a:pPr marL="0" indent="0">
              <a:buNone/>
            </a:pPr>
            <a:r>
              <a:rPr lang="en-US" dirty="0"/>
              <a:t>   console.log("Login attempt:", retry);</a:t>
            </a:r>
          </a:p>
          <a:p>
            <a:pPr marL="0" indent="0">
              <a:buNone/>
            </a:pPr>
            <a:r>
              <a:rPr lang="en-US" dirty="0"/>
              <a:t>   retry++;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042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5CA4-5F72-3221-5E32-07AF1259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1A11DE-C02A-4A13-3B99-7A87260E3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D186C5-0B6F-D14C-A853-16880ADA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888265F-4452-E3F3-0365-DF9EC10DF3CF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0A0C13B-DF5E-8F97-8B50-66E184E5A435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5562600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/>
              <a:t>Điều kiện phức tạp: if/else</a:t>
            </a:r>
          </a:p>
          <a:p>
            <a:r>
              <a:rPr lang="vi-VN" dirty="0"/>
              <a:t>So sánh nhiều giá trị cố định: switch</a:t>
            </a:r>
          </a:p>
          <a:p>
            <a:r>
              <a:rPr lang="vi-VN" dirty="0"/>
              <a:t>Biết số lần lặp: for</a:t>
            </a:r>
          </a:p>
          <a:p>
            <a:r>
              <a:rPr lang="vi-VN" dirty="0"/>
              <a:t>Không biết trước số lần: while</a:t>
            </a:r>
          </a:p>
        </p:txBody>
      </p:sp>
    </p:spTree>
    <p:extLst>
      <p:ext uri="{BB962C8B-B14F-4D97-AF65-F5344CB8AC3E}">
        <p14:creationId xmlns:p14="http://schemas.microsoft.com/office/powerpoint/2010/main" val="27313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9663-1B79-B628-5AFF-38AA03A8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2B147-E4D8-7598-CAB7-9DD53B21A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9DEA1-B68D-BF53-70A6-DDFEF5EE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D937C180-4D4A-71D9-301D-6F2AB140B7FA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F34288E-2B9B-064F-E4C0-E8A1BFAE8F64}"/>
              </a:ext>
            </a:extLst>
          </p:cNvPr>
          <p:cNvSpPr txBox="1">
            <a:spLocks/>
          </p:cNvSpPr>
          <p:nvPr/>
        </p:nvSpPr>
        <p:spPr>
          <a:xfrm>
            <a:off x="533400" y="1683107"/>
            <a:ext cx="9280556" cy="451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dirty="0"/>
              <a:t>Bài 1:</a:t>
            </a:r>
            <a:r>
              <a:rPr lang="vi-VN" dirty="0"/>
              <a:t> Dùng vòng lặp for để in ra các số từ 1 đến 5, nhưng nếu là số 3 thì in thêm chữ "(Bỏ qua test case này)".</a:t>
            </a:r>
          </a:p>
          <a:p>
            <a:r>
              <a:rPr lang="vi-VN" b="1" dirty="0"/>
              <a:t>Bài 2:</a:t>
            </a:r>
            <a:r>
              <a:rPr lang="vi-VN" dirty="0"/>
              <a:t> Viết switch kiểm tra biến userRole ("admin", "user", "guest") và in ra quyền tương ứng "Được xóa bài"/"Được đăng bài"/"Chỉ xem"/"Role không hợp lệ" (default)</a:t>
            </a:r>
          </a:p>
        </p:txBody>
      </p:sp>
    </p:spTree>
    <p:extLst>
      <p:ext uri="{BB962C8B-B14F-4D97-AF65-F5344CB8AC3E}">
        <p14:creationId xmlns:p14="http://schemas.microsoft.com/office/powerpoint/2010/main" val="47371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4BC5-D786-E854-589E-0F4FFF03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DDC43B-BD91-E224-E308-F8FD9C06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4: Switch &amp; Loop (for, while)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7ADAA-6A3A-2F71-8B6C-C0AE40C7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9AA9686-6138-6DA7-6B5B-68C159D68D00}"/>
              </a:ext>
            </a:extLst>
          </p:cNvPr>
          <p:cNvSpPr txBox="1">
            <a:spLocks/>
          </p:cNvSpPr>
          <p:nvPr/>
        </p:nvSpPr>
        <p:spPr>
          <a:xfrm>
            <a:off x="444500" y="1013822"/>
            <a:ext cx="8147239" cy="669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2C620B1-0F00-FA32-3EF3-281357F64079}"/>
              </a:ext>
            </a:extLst>
          </p:cNvPr>
          <p:cNvSpPr txBox="1">
            <a:spLocks/>
          </p:cNvSpPr>
          <p:nvPr/>
        </p:nvSpPr>
        <p:spPr>
          <a:xfrm>
            <a:off x="533399" y="1683107"/>
            <a:ext cx="10864913" cy="4518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b="1" dirty="0"/>
              <a:t>Bài tập về nhà:</a:t>
            </a:r>
            <a:endParaRPr lang="vi-VN" dirty="0"/>
          </a:p>
          <a:p>
            <a:r>
              <a:rPr lang="vi-VN" dirty="0"/>
              <a:t>1. Hãy hiển thị danh sách phim dưới đây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vi-VN" dirty="0"/>
              <a:t>===== DANH SÁCH PHIM =====</a:t>
            </a:r>
          </a:p>
          <a:p>
            <a:pPr lvl="1"/>
            <a:r>
              <a:rPr lang="vi-VN" dirty="0"/>
              <a:t>1. Avengers      - 90000đ</a:t>
            </a:r>
          </a:p>
          <a:p>
            <a:pPr lvl="1"/>
            <a:r>
              <a:rPr lang="vi-VN" dirty="0"/>
              <a:t>2. Conan         - 70000đ</a:t>
            </a:r>
          </a:p>
          <a:p>
            <a:pPr lvl="1"/>
            <a:r>
              <a:rPr lang="vi-VN" dirty="0"/>
              <a:t>3. Doraemon      - 60000đ</a:t>
            </a:r>
          </a:p>
          <a:p>
            <a:pPr lvl="1"/>
            <a:r>
              <a:rPr lang="vi-VN" dirty="0"/>
              <a:t>4. One Piece     - 80000đ</a:t>
            </a:r>
          </a:p>
          <a:p>
            <a:pPr lvl="1"/>
            <a:r>
              <a:rPr lang="vi-VN" dirty="0"/>
              <a:t>0. Thoát</a:t>
            </a:r>
          </a:p>
          <a:p>
            <a:r>
              <a:rPr lang="vi-VN" dirty="0"/>
              <a:t>2. - user sẽ nhập số để chọn phim tương ứng hãy dùng switch case để: in tên phim và giá vé đã chọn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vi-VN" dirty="0"/>
              <a:t>Gợi ý mục 2: khởi tạo biến và lấy giá trị khi user nhập số chọn phim bằng hàm sau: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vi-VN" dirty="0"/>
              <a:t>let choice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vi-VN" dirty="0"/>
              <a:t>choice = Number(prompt("Chọn phim:")); --&gt; giả lập màn hình hiển thị "Chọn phim: __"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/>
              <a:t>Ý</a:t>
            </a:r>
            <a:r>
              <a:rPr lang="vi-VN" dirty="0"/>
              <a:t> nghĩa: prompt(""): Hiển thị ô nhập liệu để user có thể nhập vào --&gt; sau khi nhập xx hàm sẽ nhận giá trị prompt("xx") --&gt; đây là String --&gt; dùng Number() để convert String sang Number (từ "xx" --&gt; xx)</a:t>
            </a:r>
          </a:p>
          <a:p>
            <a:r>
              <a:rPr lang="vi-VN" dirty="0"/>
              <a:t>3. - Nhập số lượng vé --&gt; tương tự như nhập "Chọn phim"</a:t>
            </a:r>
          </a:p>
          <a:p>
            <a:pPr marL="457200" lvl="1" indent="0">
              <a:buNone/>
            </a:pPr>
            <a:r>
              <a:rPr lang="vi-VN" dirty="0"/>
              <a:t>Sau đó tính tổng tiền (tổng tiền = giá vé * số lượng);</a:t>
            </a:r>
          </a:p>
          <a:p>
            <a:pPr marL="457200" lvl="1" indent="0">
              <a:buNone/>
            </a:pPr>
            <a:r>
              <a:rPr lang="vi-VN" dirty="0"/>
              <a:t>In số lượng, tổng tiền</a:t>
            </a:r>
          </a:p>
        </p:txBody>
      </p:sp>
    </p:spTree>
    <p:extLst>
      <p:ext uri="{BB962C8B-B14F-4D97-AF65-F5344CB8AC3E}">
        <p14:creationId xmlns:p14="http://schemas.microsoft.com/office/powerpoint/2010/main" val="208937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131</TotalTime>
  <Words>2246</Words>
  <Application>Microsoft Office PowerPoint</Application>
  <PresentationFormat>Widescreen</PresentationFormat>
  <Paragraphs>548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Tahoma</vt:lpstr>
      <vt:lpstr>Trade Gothic LT Pro</vt:lpstr>
      <vt:lpstr>Trebuchet MS</vt:lpstr>
      <vt:lpstr>Wingdings</vt:lpstr>
      <vt:lpstr>Office Theme</vt:lpstr>
      <vt:lpstr>Javascript</vt:lpstr>
      <vt:lpstr>Bài 1: Giới thiệu JavaScript, VS Code, SourceTree, GitHub</vt:lpstr>
      <vt:lpstr>Bài 1: Giới thiệu JavaScript, VS Code, SourceTree, GitHub</vt:lpstr>
      <vt:lpstr>JavaScript là gì?</vt:lpstr>
      <vt:lpstr>JavaScript là gì?</vt:lpstr>
      <vt:lpstr>JavaScript là gì?</vt:lpstr>
      <vt:lpstr>Visual Studio Code (VS Code)</vt:lpstr>
      <vt:lpstr>Visual Studio Code (VS Code)</vt:lpstr>
      <vt:lpstr>Giới thiệu Git &amp; GitHub </vt:lpstr>
      <vt:lpstr>Giới thiệu SourceTree</vt:lpstr>
      <vt:lpstr>Cài đặt &amp; Bài tập</vt:lpstr>
      <vt:lpstr>Bài 2: Biến và kiểu dữ liệu</vt:lpstr>
      <vt:lpstr>1. Biến (Variable) là gì?</vt:lpstr>
      <vt:lpstr>2. Kiểu dữ liệu (Data Types)</vt:lpstr>
      <vt:lpstr>2. Kiểu dữ liệu (Data Types)</vt:lpstr>
      <vt:lpstr>2. Kiểu dữ liệu (Data Types)</vt:lpstr>
      <vt:lpstr>2. Kiểu dữ liệu (Data Types)</vt:lpstr>
      <vt:lpstr>3. Kiểm tra kiểu dữ liệu</vt:lpstr>
      <vt:lpstr>4. Tổng kết</vt:lpstr>
      <vt:lpstr>5. Bài tập</vt:lpstr>
      <vt:lpstr>Bài 3: Toán tử và so sánh,  Câu điều kiện, If/else</vt:lpstr>
      <vt:lpstr>1. Toán tử</vt:lpstr>
      <vt:lpstr>1. Toán tử</vt:lpstr>
      <vt:lpstr>1. Toán tử</vt:lpstr>
      <vt:lpstr>1. Toán tử</vt:lpstr>
      <vt:lpstr>2. Toán tử so sánh (Comparison Operators)</vt:lpstr>
      <vt:lpstr>3. Toán tử logic (Logical Operators):  &amp;&amp; (AND), || (OR), ! (NOT)</vt:lpstr>
      <vt:lpstr>4. Câu điều kiện if/else</vt:lpstr>
      <vt:lpstr>4. Câu điều kiện if/else</vt:lpstr>
      <vt:lpstr>5. Tổng kết</vt:lpstr>
      <vt:lpstr>6. Bài tập</vt:lpstr>
      <vt:lpstr>Bài tập về nhà</vt:lpstr>
      <vt:lpstr>Bài tập về nhà</vt:lpstr>
      <vt:lpstr>Bài tập về nhà</vt:lpstr>
      <vt:lpstr>Bài tập về nhà</vt:lpstr>
      <vt:lpstr>Bài tập về nhà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Bài 4: Switch &amp; Loop (for, while)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Huy Thanh Phan</dc:creator>
  <cp:lastModifiedBy>Admin</cp:lastModifiedBy>
  <cp:revision>87</cp:revision>
  <dcterms:created xsi:type="dcterms:W3CDTF">2026-05-02T15:13:50Z</dcterms:created>
  <dcterms:modified xsi:type="dcterms:W3CDTF">2026-05-17T13:07:07Z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